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 id="2147483656" r:id="rId4"/>
  </p:sldMasterIdLst>
  <p:notesMasterIdLst>
    <p:notesMasterId r:id="rId6"/>
  </p:notesMasterIdLst>
  <p:sldIdLst>
    <p:sldId id="297" r:id="rId5"/>
    <p:sldId id="619" r:id="rId7"/>
    <p:sldId id="566" r:id="rId8"/>
    <p:sldId id="602" r:id="rId9"/>
    <p:sldId id="620" r:id="rId10"/>
    <p:sldId id="605" r:id="rId11"/>
    <p:sldId id="623" r:id="rId12"/>
    <p:sldId id="621" r:id="rId13"/>
    <p:sldId id="607" r:id="rId14"/>
    <p:sldId id="598" r:id="rId15"/>
    <p:sldId id="600" r:id="rId16"/>
    <p:sldId id="567" r:id="rId17"/>
    <p:sldId id="595" r:id="rId18"/>
    <p:sldId id="589" r:id="rId19"/>
    <p:sldId id="588" r:id="rId20"/>
    <p:sldId id="601" r:id="rId21"/>
    <p:sldId id="593" r:id="rId22"/>
    <p:sldId id="587" r:id="rId23"/>
    <p:sldId id="586" r:id="rId24"/>
    <p:sldId id="622"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97D"/>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4" autoAdjust="0"/>
    <p:restoredTop sz="94660"/>
  </p:normalViewPr>
  <p:slideViewPr>
    <p:cSldViewPr snapToGrid="0" showGuides="1">
      <p:cViewPr varScale="1">
        <p:scale>
          <a:sx n="109" d="100"/>
          <a:sy n="109" d="100"/>
        </p:scale>
        <p:origin x="474" y="102"/>
      </p:cViewPr>
      <p:guideLst>
        <p:guide orient="horz" pos="2160"/>
        <p:guide pos="38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gs" Target="tags/tag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E0B595-ED01-4096-9621-6068EA45C4F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4543DE-86A1-4932-8632-DBCCD9CF669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24740C7-8563-49A9-9656-2AAE532A9449}"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17"/>
          <p:cNvSpPr>
            <a:spLocks noGrp="1"/>
          </p:cNvSpPr>
          <p:nvPr>
            <p:ph type="sldNum" sz="quarter" idx="10"/>
          </p:nvPr>
        </p:nvSpPr>
        <p:spPr/>
        <p:txBody>
          <a:bodyPr/>
          <a:lstStyle>
            <a:lvl1pPr>
              <a:defRPr/>
            </a:lvl1pPr>
          </a:lstStyle>
          <a:p>
            <a:fld id="{745053AB-5437-4902-913B-B7153203260D}" type="slidenum">
              <a:rPr lang="zh-CN" altLang="en-US"/>
            </a:fld>
            <a:endParaRPr lang="en-US" altLang="zh-CN"/>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17"/>
          <p:cNvSpPr>
            <a:spLocks noGrp="1"/>
          </p:cNvSpPr>
          <p:nvPr>
            <p:ph type="sldNum" sz="quarter" idx="10"/>
          </p:nvPr>
        </p:nvSpPr>
        <p:spPr/>
        <p:txBody>
          <a:bodyPr/>
          <a:lstStyle>
            <a:lvl1pPr>
              <a:defRPr/>
            </a:lvl1pPr>
          </a:lstStyle>
          <a:p>
            <a:fld id="{CFDC8977-FA9D-455C-A140-FFECB9992D3F}" type="slidenum">
              <a:rPr lang="zh-CN" altLang="en-US"/>
            </a:fld>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17"/>
          <p:cNvSpPr>
            <a:spLocks noGrp="1"/>
          </p:cNvSpPr>
          <p:nvPr>
            <p:ph type="sldNum" sz="quarter" idx="10"/>
          </p:nvPr>
        </p:nvSpPr>
        <p:spPr/>
        <p:txBody>
          <a:bodyPr/>
          <a:lstStyle>
            <a:lvl1pPr>
              <a:defRPr/>
            </a:lvl1pPr>
          </a:lstStyle>
          <a:p>
            <a:fld id="{8B84AD8B-A483-42DA-A869-C6F3CABB4CE9}" type="slidenum">
              <a:rPr lang="zh-CN" altLang="en-US"/>
            </a:fld>
            <a:endParaRPr lang="en-US" alt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11353801" y="6423026"/>
            <a:ext cx="556684" cy="365125"/>
          </a:xfrm>
        </p:spPr>
        <p:txBody>
          <a:bodyPr/>
          <a:lstStyle>
            <a:lvl1pPr>
              <a:defRPr/>
            </a:lvl1pPr>
          </a:lstStyle>
          <a:p>
            <a:fld id="{B2E47D4B-FFC8-4EB0-940C-A2F17C5624E3}" type="slidenum">
              <a:rPr lang="zh-CN" altLang="en-US"/>
            </a:fld>
            <a:endParaRPr lang="en-US" altLang="zh-CN"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9169400" y="0"/>
            <a:ext cx="3022600" cy="115888"/>
          </a:xfrm>
          <a:prstGeom prst="rect">
            <a:avLst/>
          </a:prstGeom>
          <a:solidFill>
            <a:schemeClr val="accent2">
              <a:lumMod val="75000"/>
            </a:schemeClr>
          </a:solidFill>
          <a:ln w="25400" algn="ctr">
            <a:noFill/>
            <a:miter lim="800000"/>
          </a:ln>
        </p:spPr>
        <p:txBody>
          <a:bodyPr anchor="ctr"/>
          <a:lstStyle/>
          <a:p>
            <a:pPr algn="ctr" fontAlgn="auto">
              <a:spcBef>
                <a:spcPts val="0"/>
              </a:spcBef>
              <a:spcAft>
                <a:spcPts val="0"/>
              </a:spcAft>
              <a:defRPr/>
            </a:pPr>
            <a:endParaRPr lang="zh-CN" altLang="en-US" sz="1800" dirty="0">
              <a:solidFill>
                <a:schemeClr val="lt1"/>
              </a:solidFill>
              <a:latin typeface="+mn-lt"/>
              <a:ea typeface="+mn-ea"/>
            </a:endParaRPr>
          </a:p>
        </p:txBody>
      </p:sp>
      <p:pic>
        <p:nvPicPr>
          <p:cNvPr id="3" name="Picture 21" descr="3"/>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9018"/>
          <a:stretch>
            <a:fillRect/>
          </a:stretch>
        </p:blipFill>
        <p:spPr bwMode="auto">
          <a:xfrm>
            <a:off x="1098958" y="142875"/>
            <a:ext cx="182869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1262" y="191070"/>
            <a:ext cx="741948" cy="743398"/>
          </a:xfrm>
          <a:prstGeom prst="rect">
            <a:avLst/>
          </a:prstGeom>
        </p:spPr>
      </p:pic>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17"/>
          <p:cNvSpPr>
            <a:spLocks noGrp="1"/>
          </p:cNvSpPr>
          <p:nvPr>
            <p:ph type="sldNum" sz="quarter" idx="10"/>
          </p:nvPr>
        </p:nvSpPr>
        <p:spPr/>
        <p:txBody>
          <a:bodyPr/>
          <a:lstStyle>
            <a:lvl1pPr>
              <a:defRPr/>
            </a:lvl1pPr>
          </a:lstStyle>
          <a:p>
            <a:fld id="{745053AB-5437-4902-913B-B7153203260D}" type="slidenum">
              <a:rPr lang="zh-CN" altLang="en-US"/>
            </a:fld>
            <a:endParaRPr lang="en-US" alt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17"/>
          <p:cNvSpPr>
            <a:spLocks noGrp="1"/>
          </p:cNvSpPr>
          <p:nvPr>
            <p:ph type="sldNum" sz="quarter" idx="10"/>
          </p:nvPr>
        </p:nvSpPr>
        <p:spPr/>
        <p:txBody>
          <a:bodyPr/>
          <a:lstStyle>
            <a:lvl1pPr>
              <a:defRPr/>
            </a:lvl1pPr>
          </a:lstStyle>
          <a:p>
            <a:fld id="{CFDC8977-FA9D-455C-A140-FFECB9992D3F}" type="slidenum">
              <a:rPr lang="zh-CN" altLang="en-US"/>
            </a:fld>
            <a:endParaRPr lang="en-US" alt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17"/>
          <p:cNvSpPr>
            <a:spLocks noGrp="1"/>
          </p:cNvSpPr>
          <p:nvPr>
            <p:ph type="sldNum" sz="quarter" idx="10"/>
          </p:nvPr>
        </p:nvSpPr>
        <p:spPr/>
        <p:txBody>
          <a:bodyPr/>
          <a:lstStyle>
            <a:lvl1pPr>
              <a:defRPr/>
            </a:lvl1pPr>
          </a:lstStyle>
          <a:p>
            <a:fld id="{8B84AD8B-A483-42DA-A869-C6F3CABB4CE9}" type="slidenum">
              <a:rPr lang="zh-CN" altLang="en-US"/>
            </a:fld>
            <a:endParaRPr lang="en-US" alt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11353801" y="6423026"/>
            <a:ext cx="556684" cy="365125"/>
          </a:xfrm>
        </p:spPr>
        <p:txBody>
          <a:bodyPr/>
          <a:lstStyle>
            <a:lvl1pPr>
              <a:defRPr/>
            </a:lvl1pPr>
          </a:lstStyle>
          <a:p>
            <a:fld id="{B2E47D4B-FFC8-4EB0-940C-A2F17C5624E3}" type="slidenum">
              <a:rPr lang="zh-CN" altLang="en-US"/>
            </a:fld>
            <a:endParaRPr lang="en-US" altLang="zh-CN"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4" name="Rectangle 6"/>
          <p:cNvSpPr>
            <a:spLocks noGrp="1" noChangeArrowheads="1"/>
          </p:cNvSpPr>
          <p:nvPr>
            <p:ph type="sldNum" sz="quarter" idx="11"/>
          </p:nvPr>
        </p:nvSpPr>
        <p:spPr/>
        <p:txBody>
          <a:bodyPr/>
          <a:lstStyle>
            <a:lvl1pPr>
              <a:defRPr/>
            </a:lvl1pPr>
          </a:lstStyle>
          <a:p>
            <a:pPr>
              <a:defRPr/>
            </a:pPr>
            <a:fld id="{3F39CA9F-6A04-4A1D-8A66-2EF235D1F962}" type="slidenum">
              <a:rPr lang="zh-CN" altLang="en-US">
                <a:solidFill>
                  <a:prstClr val="black"/>
                </a:solidFill>
              </a:rPr>
            </a:fld>
            <a:endParaRPr lang="zh-CN" altLang="en-US">
              <a:solidFill>
                <a:prstClr val="black"/>
              </a:solidFill>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3.jpe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image" Target="../media/image3.jpe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6" descr="SEUB.pn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392886" y="3136901"/>
            <a:ext cx="3799114"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userDrawn="1"/>
        </p:nvSpPr>
        <p:spPr bwMode="auto">
          <a:xfrm>
            <a:off x="0" y="6556376"/>
            <a:ext cx="12192000" cy="301624"/>
          </a:xfrm>
          <a:prstGeom prst="rect">
            <a:avLst/>
          </a:prstGeom>
          <a:solidFill>
            <a:srgbClr val="EAEAEA"/>
          </a:solidFill>
          <a:ln w="25400" algn="ctr">
            <a:noFill/>
            <a:miter lim="800000"/>
          </a:ln>
        </p:spPr>
        <p:txBody>
          <a:bodyPr anchor="ctr"/>
          <a:lstStyle/>
          <a:p>
            <a:pPr algn="ctr" fontAlgn="auto">
              <a:spcBef>
                <a:spcPts val="0"/>
              </a:spcBef>
              <a:spcAft>
                <a:spcPts val="0"/>
              </a:spcAft>
              <a:defRPr/>
            </a:pPr>
            <a:endParaRPr lang="zh-CN" altLang="en-US" sz="1800" dirty="0">
              <a:solidFill>
                <a:schemeClr val="lt1"/>
              </a:solidFill>
              <a:latin typeface="+mn-lt"/>
              <a:ea typeface="+mn-ea"/>
            </a:endParaRPr>
          </a:p>
        </p:txBody>
      </p:sp>
      <p:grpSp>
        <p:nvGrpSpPr>
          <p:cNvPr id="3076" name="Group 14"/>
          <p:cNvGrpSpPr/>
          <p:nvPr userDrawn="1"/>
        </p:nvGrpSpPr>
        <p:grpSpPr bwMode="auto">
          <a:xfrm>
            <a:off x="11239500" y="6603640"/>
            <a:ext cx="762000" cy="142875"/>
            <a:chOff x="5310" y="4118"/>
            <a:chExt cx="360" cy="90"/>
          </a:xfrm>
        </p:grpSpPr>
        <p:sp>
          <p:nvSpPr>
            <p:cNvPr id="7" name="椭圆 6"/>
            <p:cNvSpPr>
              <a:spLocks noChangeArrowheads="1"/>
            </p:cNvSpPr>
            <p:nvPr userDrawn="1"/>
          </p:nvSpPr>
          <p:spPr bwMode="auto">
            <a:xfrm>
              <a:off x="5310" y="4140"/>
              <a:ext cx="45" cy="45"/>
            </a:xfrm>
            <a:prstGeom prst="ellipse">
              <a:avLst/>
            </a:prstGeom>
            <a:solidFill>
              <a:schemeClr val="accent1">
                <a:lumMod val="75000"/>
              </a:schemeClr>
            </a:solidFill>
            <a:ln w="25400" algn="ctr">
              <a:noFill/>
              <a:round/>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sp>
          <p:nvSpPr>
            <p:cNvPr id="8" name="椭圆 7"/>
            <p:cNvSpPr>
              <a:spLocks noChangeArrowheads="1"/>
            </p:cNvSpPr>
            <p:nvPr userDrawn="1"/>
          </p:nvSpPr>
          <p:spPr bwMode="auto">
            <a:xfrm>
              <a:off x="5625" y="4140"/>
              <a:ext cx="45" cy="45"/>
            </a:xfrm>
            <a:prstGeom prst="ellipse">
              <a:avLst/>
            </a:prstGeom>
            <a:solidFill>
              <a:schemeClr val="accent1">
                <a:lumMod val="75000"/>
              </a:schemeClr>
            </a:solidFill>
            <a:ln w="25400" algn="ctr">
              <a:noFill/>
              <a:round/>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sp>
          <p:nvSpPr>
            <p:cNvPr id="9" name="矩形 8"/>
            <p:cNvSpPr>
              <a:spLocks noChangeArrowheads="1"/>
            </p:cNvSpPr>
            <p:nvPr userDrawn="1"/>
          </p:nvSpPr>
          <p:spPr bwMode="auto">
            <a:xfrm>
              <a:off x="5400" y="4118"/>
              <a:ext cx="180" cy="90"/>
            </a:xfrm>
            <a:prstGeom prst="rect">
              <a:avLst/>
            </a:prstGeom>
            <a:solidFill>
              <a:schemeClr val="bg1"/>
            </a:solidFill>
            <a:ln w="25400" algn="ctr">
              <a:noFill/>
              <a:miter lim="800000"/>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grpSp>
      <p:pic>
        <p:nvPicPr>
          <p:cNvPr id="3078" name="Picture 11" descr="3"/>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30218"/>
          <a:stretch>
            <a:fillRect/>
          </a:stretch>
        </p:blipFill>
        <p:spPr bwMode="auto">
          <a:xfrm>
            <a:off x="10628851" y="188913"/>
            <a:ext cx="13218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3"/>
          <p:cNvSpPr>
            <a:spLocks noChangeArrowheads="1"/>
          </p:cNvSpPr>
          <p:nvPr userDrawn="1"/>
        </p:nvSpPr>
        <p:spPr bwMode="auto">
          <a:xfrm>
            <a:off x="334433" y="877889"/>
            <a:ext cx="11516784" cy="22225"/>
          </a:xfrm>
          <a:prstGeom prst="rect">
            <a:avLst/>
          </a:prstGeom>
          <a:solidFill>
            <a:srgbClr val="697535"/>
          </a:solidFill>
          <a:ln w="25400" algn="ctr">
            <a:no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3080" name="Rectangle 15"/>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矩形 3"/>
          <p:cNvSpPr>
            <a:spLocks noChangeArrowheads="1"/>
          </p:cNvSpPr>
          <p:nvPr userDrawn="1"/>
        </p:nvSpPr>
        <p:spPr bwMode="auto">
          <a:xfrm>
            <a:off x="334433" y="908050"/>
            <a:ext cx="11516784" cy="7938"/>
          </a:xfrm>
          <a:prstGeom prst="rect">
            <a:avLst/>
          </a:prstGeom>
          <a:solidFill>
            <a:schemeClr val="accent1">
              <a:lumMod val="75000"/>
            </a:schemeClr>
          </a:solidFill>
          <a:ln w="25400" algn="ctr">
            <a:solidFill>
              <a:schemeClr val="accent1">
                <a:lumMod val="75000"/>
              </a:schemeClr>
            </a:solid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10" name="矩形 3"/>
          <p:cNvSpPr>
            <a:spLocks noChangeArrowheads="1"/>
          </p:cNvSpPr>
          <p:nvPr userDrawn="1"/>
        </p:nvSpPr>
        <p:spPr bwMode="auto">
          <a:xfrm>
            <a:off x="334433" y="920750"/>
            <a:ext cx="11516784" cy="7938"/>
          </a:xfrm>
          <a:prstGeom prst="rect">
            <a:avLst/>
          </a:prstGeom>
          <a:solidFill>
            <a:srgbClr val="697535"/>
          </a:solidFill>
          <a:ln w="25400" algn="ctr">
            <a:no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3083" name="Rectangle 20"/>
          <p:cNvSpPr>
            <a:spLocks noGrp="1" noChangeArrowheads="1"/>
          </p:cNvSpPr>
          <p:nvPr>
            <p:ph type="title"/>
          </p:nvPr>
        </p:nvSpPr>
        <p:spPr bwMode="auto">
          <a:xfrm>
            <a:off x="0" y="1"/>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7" name="矩形 16"/>
          <p:cNvSpPr>
            <a:spLocks noChangeArrowheads="1"/>
          </p:cNvSpPr>
          <p:nvPr userDrawn="1"/>
        </p:nvSpPr>
        <p:spPr bwMode="auto">
          <a:xfrm>
            <a:off x="0" y="6786564"/>
            <a:ext cx="12192000" cy="71437"/>
          </a:xfrm>
          <a:prstGeom prst="rect">
            <a:avLst/>
          </a:prstGeom>
          <a:solidFill>
            <a:schemeClr val="accent1">
              <a:lumMod val="75000"/>
            </a:schemeClr>
          </a:solidFill>
          <a:ln w="25400" algn="ctr">
            <a:noFill/>
            <a:miter lim="800000"/>
          </a:ln>
        </p:spPr>
        <p:txBody>
          <a:bodyPr anchor="ctr"/>
          <a:lstStyle/>
          <a:p>
            <a:pPr fontAlgn="auto">
              <a:spcBef>
                <a:spcPts val="0"/>
              </a:spcBef>
              <a:spcAft>
                <a:spcPts val="0"/>
              </a:spcAft>
              <a:defRPr/>
            </a:pPr>
            <a:endParaRPr lang="zh-CN" altLang="en-US" sz="2800">
              <a:solidFill>
                <a:schemeClr val="lt1"/>
              </a:solidFill>
              <a:latin typeface="+mn-lt"/>
              <a:ea typeface="+mn-ea"/>
            </a:endParaRPr>
          </a:p>
        </p:txBody>
      </p:sp>
      <p:sp>
        <p:nvSpPr>
          <p:cNvPr id="18" name="灯片编号占位符 17"/>
          <p:cNvSpPr>
            <a:spLocks noGrp="1"/>
          </p:cNvSpPr>
          <p:nvPr>
            <p:ph type="sldNum" sz="quarter" idx="4"/>
          </p:nvPr>
        </p:nvSpPr>
        <p:spPr>
          <a:xfrm>
            <a:off x="11353801" y="6489340"/>
            <a:ext cx="556684" cy="365125"/>
          </a:xfrm>
          <a:prstGeom prst="rect">
            <a:avLst/>
          </a:prstGeom>
        </p:spPr>
        <p:txBody>
          <a:bodyPr vert="horz" wrap="square" lIns="91440" tIns="45720" rIns="91440" bIns="45720" numCol="1" anchor="ctr" anchorCtr="0" compatLnSpc="1"/>
          <a:lstStyle>
            <a:lvl1pPr algn="ctr">
              <a:defRPr sz="800" b="1">
                <a:solidFill>
                  <a:schemeClr val="accent1">
                    <a:lumMod val="75000"/>
                  </a:schemeClr>
                </a:solidFill>
                <a:cs typeface="Arial" panose="020B0604020202020204" pitchFamily="34" charset="0"/>
              </a:defRPr>
            </a:lvl1pPr>
          </a:lstStyle>
          <a:p>
            <a:fld id="{DD6C0467-BC24-4F6C-B471-A2A33AC03273}" type="slidenum">
              <a:rPr lang="zh-CN" altLang="en-US" smtClean="0"/>
            </a:fld>
            <a:endParaRPr lang="en-US" altLang="zh-CN" dirty="0"/>
          </a:p>
        </p:txBody>
      </p:sp>
      <p:pic>
        <p:nvPicPr>
          <p:cNvPr id="19" name="图片 18"/>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988270" y="181803"/>
            <a:ext cx="565082" cy="5661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fade/>
  </p:transition>
  <p:hf hdr="0" ftr="0" dt="0"/>
  <p:txStyles>
    <p:title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3200">
          <a:solidFill>
            <a:schemeClr val="tx2">
              <a:lumMod val="75000"/>
            </a:schemeClr>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2">
              <a:lumMod val="75000"/>
            </a:schemeClr>
          </a:solidFill>
          <a:latin typeface="+mn-lt"/>
          <a:ea typeface="+mn-ea"/>
        </a:defRPr>
      </a:lvl2pPr>
      <a:lvl3pPr marL="1143000" indent="-228600" algn="l" rtl="0" eaLnBrk="0" fontAlgn="base" hangingPunct="0">
        <a:spcBef>
          <a:spcPct val="20000"/>
        </a:spcBef>
        <a:spcAft>
          <a:spcPct val="0"/>
        </a:spcAft>
        <a:buChar char="•"/>
        <a:defRPr sz="2400">
          <a:solidFill>
            <a:schemeClr val="tx2">
              <a:lumMod val="75000"/>
            </a:schemeClr>
          </a:solidFill>
          <a:latin typeface="+mn-lt"/>
          <a:ea typeface="+mn-ea"/>
        </a:defRPr>
      </a:lvl3pPr>
      <a:lvl4pPr marL="1600200" indent="-228600" algn="l" rtl="0" eaLnBrk="0" fontAlgn="base" hangingPunct="0">
        <a:spcBef>
          <a:spcPct val="20000"/>
        </a:spcBef>
        <a:spcAft>
          <a:spcPct val="0"/>
        </a:spcAft>
        <a:buChar char="–"/>
        <a:defRPr sz="2000">
          <a:solidFill>
            <a:schemeClr val="tx2">
              <a:lumMod val="75000"/>
            </a:schemeClr>
          </a:solidFill>
          <a:latin typeface="+mn-lt"/>
          <a:ea typeface="+mn-ea"/>
        </a:defRPr>
      </a:lvl4pPr>
      <a:lvl5pPr marL="2057400" indent="-228600" algn="l" rtl="0" eaLnBrk="0" fontAlgn="base" hangingPunct="0">
        <a:spcBef>
          <a:spcPct val="20000"/>
        </a:spcBef>
        <a:spcAft>
          <a:spcPct val="0"/>
        </a:spcAft>
        <a:buChar char="»"/>
        <a:defRPr sz="2000">
          <a:solidFill>
            <a:schemeClr val="tx2">
              <a:lumMod val="75000"/>
            </a:schemeClr>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7"/>
          <p:cNvSpPr>
            <a:spLocks noChangeArrowheads="1"/>
          </p:cNvSpPr>
          <p:nvPr userDrawn="1"/>
        </p:nvSpPr>
        <p:spPr bwMode="auto">
          <a:xfrm>
            <a:off x="0" y="4429126"/>
            <a:ext cx="12192000" cy="2428875"/>
          </a:xfrm>
          <a:prstGeom prst="rect">
            <a:avLst/>
          </a:prstGeom>
          <a:solidFill>
            <a:schemeClr val="accent1">
              <a:lumMod val="75000"/>
            </a:schemeClr>
          </a:solidFill>
          <a:ln w="25400" algn="ctr">
            <a:noFill/>
            <a:miter lim="800000"/>
          </a:ln>
        </p:spPr>
        <p:txBody>
          <a:bodyPr anchor="ctr"/>
          <a:lstStyle/>
          <a:p>
            <a:pPr fontAlgn="auto">
              <a:spcBef>
                <a:spcPts val="0"/>
              </a:spcBef>
              <a:spcAft>
                <a:spcPts val="0"/>
              </a:spcAft>
              <a:defRPr/>
            </a:pPr>
            <a:endParaRPr lang="zh-CN" altLang="en-US" sz="2800" dirty="0">
              <a:solidFill>
                <a:schemeClr val="lt1"/>
              </a:solidFill>
              <a:latin typeface="+mn-lt"/>
              <a:ea typeface="+mn-ea"/>
            </a:endParaRPr>
          </a:p>
        </p:txBody>
      </p:sp>
      <p:sp>
        <p:nvSpPr>
          <p:cNvPr id="3" name="矩形 17"/>
          <p:cNvSpPr>
            <a:spLocks noChangeArrowheads="1"/>
          </p:cNvSpPr>
          <p:nvPr userDrawn="1"/>
        </p:nvSpPr>
        <p:spPr bwMode="auto">
          <a:xfrm>
            <a:off x="0" y="4286250"/>
            <a:ext cx="12192000" cy="71438"/>
          </a:xfrm>
          <a:prstGeom prst="rect">
            <a:avLst/>
          </a:prstGeom>
          <a:solidFill>
            <a:schemeClr val="accent1">
              <a:lumMod val="75000"/>
            </a:schemeClr>
          </a:solidFill>
          <a:ln w="25400" algn="ctr">
            <a:solidFill>
              <a:schemeClr val="accent1">
                <a:lumMod val="75000"/>
              </a:schemeClr>
            </a:solidFill>
            <a:miter lim="800000"/>
          </a:ln>
        </p:spPr>
        <p:txBody>
          <a:bodyPr anchor="ctr"/>
          <a:lstStyle/>
          <a:p>
            <a:pPr fontAlgn="auto">
              <a:spcBef>
                <a:spcPts val="0"/>
              </a:spcBef>
              <a:spcAft>
                <a:spcPts val="0"/>
              </a:spcAft>
              <a:defRPr/>
            </a:pPr>
            <a:endParaRPr lang="zh-CN" altLang="en-US" sz="2800" dirty="0">
              <a:solidFill>
                <a:schemeClr val="lt1"/>
              </a:solidFill>
              <a:latin typeface="+mn-lt"/>
              <a:ea typeface="+mn-ea"/>
            </a:endParaRPr>
          </a:p>
        </p:txBody>
      </p:sp>
      <p:sp>
        <p:nvSpPr>
          <p:cNvPr id="4" name="矩形 3"/>
          <p:cNvSpPr>
            <a:spLocks noChangeArrowheads="1"/>
          </p:cNvSpPr>
          <p:nvPr userDrawn="1"/>
        </p:nvSpPr>
        <p:spPr bwMode="auto">
          <a:xfrm>
            <a:off x="9169400" y="0"/>
            <a:ext cx="3022600" cy="115888"/>
          </a:xfrm>
          <a:prstGeom prst="rect">
            <a:avLst/>
          </a:prstGeom>
          <a:solidFill>
            <a:schemeClr val="accent1">
              <a:lumMod val="75000"/>
            </a:schemeClr>
          </a:solidFill>
          <a:ln w="25400" algn="ctr">
            <a:noFill/>
            <a:miter lim="800000"/>
          </a:ln>
        </p:spPr>
        <p:txBody>
          <a:bodyPr anchor="ctr"/>
          <a:lstStyle/>
          <a:p>
            <a:pPr fontAlgn="auto">
              <a:spcBef>
                <a:spcPts val="0"/>
              </a:spcBef>
              <a:spcAft>
                <a:spcPts val="0"/>
              </a:spcAft>
              <a:defRPr/>
            </a:pPr>
            <a:endParaRPr lang="zh-CN" altLang="en-US" sz="2800" dirty="0">
              <a:solidFill>
                <a:schemeClr val="lt1"/>
              </a:solidFill>
              <a:latin typeface="+mn-lt"/>
              <a:ea typeface="+mn-ea"/>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ransition>
    <p:fade/>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eaLnBrk="0" fontAlgn="base" hangingPunct="0">
        <a:spcBef>
          <a:spcPct val="0"/>
        </a:spcBef>
        <a:spcAft>
          <a:spcPct val="0"/>
        </a:spcAft>
        <a:defRPr sz="4400">
          <a:solidFill>
            <a:schemeClr val="tx2"/>
          </a:solidFill>
          <a:latin typeface="Arial" panose="020B0604020202020204" pitchFamily="34" charset="0"/>
        </a:defRPr>
      </a:lvl6pPr>
      <a:lvl7pPr marL="914400" algn="ctr" rtl="0" eaLnBrk="0" fontAlgn="base" hangingPunct="0">
        <a:spcBef>
          <a:spcPct val="0"/>
        </a:spcBef>
        <a:spcAft>
          <a:spcPct val="0"/>
        </a:spcAft>
        <a:defRPr sz="4400">
          <a:solidFill>
            <a:schemeClr val="tx2"/>
          </a:solidFill>
          <a:latin typeface="Arial" panose="020B0604020202020204" pitchFamily="34" charset="0"/>
        </a:defRPr>
      </a:lvl7pPr>
      <a:lvl8pPr marL="1371600" algn="ctr" rtl="0" eaLnBrk="0" fontAlgn="base" hangingPunct="0">
        <a:spcBef>
          <a:spcPct val="0"/>
        </a:spcBef>
        <a:spcAft>
          <a:spcPct val="0"/>
        </a:spcAft>
        <a:defRPr sz="4400">
          <a:solidFill>
            <a:schemeClr val="tx2"/>
          </a:solidFill>
          <a:latin typeface="Arial" panose="020B0604020202020204" pitchFamily="34" charset="0"/>
        </a:defRPr>
      </a:lvl8pPr>
      <a:lvl9pPr marL="1828800" algn="ctr" rtl="0" eaLnBrk="0" fontAlgn="base" hangingPunct="0">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6" descr="SEUB.png"/>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7266517" y="3136901"/>
            <a:ext cx="4925483"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userDrawn="1"/>
        </p:nvSpPr>
        <p:spPr bwMode="auto">
          <a:xfrm>
            <a:off x="0" y="6556376"/>
            <a:ext cx="12192000" cy="301624"/>
          </a:xfrm>
          <a:prstGeom prst="rect">
            <a:avLst/>
          </a:prstGeom>
          <a:solidFill>
            <a:srgbClr val="EAEAEA"/>
          </a:solidFill>
          <a:ln w="25400" algn="ctr">
            <a:noFill/>
            <a:miter lim="800000"/>
          </a:ln>
        </p:spPr>
        <p:txBody>
          <a:bodyPr anchor="ctr"/>
          <a:lstStyle/>
          <a:p>
            <a:pPr algn="ctr" fontAlgn="auto">
              <a:spcBef>
                <a:spcPts val="0"/>
              </a:spcBef>
              <a:spcAft>
                <a:spcPts val="0"/>
              </a:spcAft>
              <a:defRPr/>
            </a:pPr>
            <a:endParaRPr lang="zh-CN" altLang="en-US" sz="1800" dirty="0">
              <a:solidFill>
                <a:schemeClr val="lt1"/>
              </a:solidFill>
              <a:latin typeface="+mn-lt"/>
              <a:ea typeface="+mn-ea"/>
            </a:endParaRPr>
          </a:p>
        </p:txBody>
      </p:sp>
      <p:grpSp>
        <p:nvGrpSpPr>
          <p:cNvPr id="3076" name="Group 14"/>
          <p:cNvGrpSpPr/>
          <p:nvPr userDrawn="1"/>
        </p:nvGrpSpPr>
        <p:grpSpPr bwMode="auto">
          <a:xfrm>
            <a:off x="11239500" y="6603640"/>
            <a:ext cx="762000" cy="142875"/>
            <a:chOff x="5310" y="4118"/>
            <a:chExt cx="360" cy="90"/>
          </a:xfrm>
        </p:grpSpPr>
        <p:sp>
          <p:nvSpPr>
            <p:cNvPr id="7" name="椭圆 6"/>
            <p:cNvSpPr>
              <a:spLocks noChangeArrowheads="1"/>
            </p:cNvSpPr>
            <p:nvPr userDrawn="1"/>
          </p:nvSpPr>
          <p:spPr bwMode="auto">
            <a:xfrm>
              <a:off x="5310" y="4140"/>
              <a:ext cx="45" cy="45"/>
            </a:xfrm>
            <a:prstGeom prst="ellipse">
              <a:avLst/>
            </a:prstGeom>
            <a:solidFill>
              <a:schemeClr val="accent1">
                <a:lumMod val="75000"/>
              </a:schemeClr>
            </a:solidFill>
            <a:ln w="25400" algn="ctr">
              <a:noFill/>
              <a:round/>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sp>
          <p:nvSpPr>
            <p:cNvPr id="8" name="椭圆 7"/>
            <p:cNvSpPr>
              <a:spLocks noChangeArrowheads="1"/>
            </p:cNvSpPr>
            <p:nvPr userDrawn="1"/>
          </p:nvSpPr>
          <p:spPr bwMode="auto">
            <a:xfrm>
              <a:off x="5625" y="4140"/>
              <a:ext cx="45" cy="45"/>
            </a:xfrm>
            <a:prstGeom prst="ellipse">
              <a:avLst/>
            </a:prstGeom>
            <a:solidFill>
              <a:schemeClr val="accent1">
                <a:lumMod val="75000"/>
              </a:schemeClr>
            </a:solidFill>
            <a:ln w="25400" algn="ctr">
              <a:noFill/>
              <a:round/>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sp>
          <p:nvSpPr>
            <p:cNvPr id="9" name="矩形 8"/>
            <p:cNvSpPr>
              <a:spLocks noChangeArrowheads="1"/>
            </p:cNvSpPr>
            <p:nvPr userDrawn="1"/>
          </p:nvSpPr>
          <p:spPr bwMode="auto">
            <a:xfrm>
              <a:off x="5400" y="4118"/>
              <a:ext cx="180" cy="90"/>
            </a:xfrm>
            <a:prstGeom prst="rect">
              <a:avLst/>
            </a:prstGeom>
            <a:solidFill>
              <a:schemeClr val="bg1"/>
            </a:solidFill>
            <a:ln w="25400" algn="ctr">
              <a:noFill/>
              <a:miter lim="800000"/>
            </a:ln>
          </p:spPr>
          <p:txBody>
            <a:bodyPr anchor="ctr"/>
            <a:lstStyle/>
            <a:p>
              <a:pPr algn="ctr" fontAlgn="auto">
                <a:spcBef>
                  <a:spcPts val="0"/>
                </a:spcBef>
                <a:spcAft>
                  <a:spcPts val="0"/>
                </a:spcAft>
                <a:defRPr/>
              </a:pPr>
              <a:endParaRPr lang="zh-CN" altLang="en-US" sz="1800">
                <a:solidFill>
                  <a:schemeClr val="accent1">
                    <a:lumMod val="75000"/>
                  </a:schemeClr>
                </a:solidFill>
                <a:latin typeface="+mn-lt"/>
                <a:ea typeface="+mn-ea"/>
              </a:endParaRPr>
            </a:p>
          </p:txBody>
        </p:sp>
      </p:grpSp>
      <p:pic>
        <p:nvPicPr>
          <p:cNvPr id="3078" name="Picture 11" descr="3"/>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30218"/>
          <a:stretch>
            <a:fillRect/>
          </a:stretch>
        </p:blipFill>
        <p:spPr bwMode="auto">
          <a:xfrm>
            <a:off x="10628851" y="188913"/>
            <a:ext cx="13218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3"/>
          <p:cNvSpPr>
            <a:spLocks noChangeArrowheads="1"/>
          </p:cNvSpPr>
          <p:nvPr userDrawn="1"/>
        </p:nvSpPr>
        <p:spPr bwMode="auto">
          <a:xfrm>
            <a:off x="334433" y="877889"/>
            <a:ext cx="11516784" cy="22225"/>
          </a:xfrm>
          <a:prstGeom prst="rect">
            <a:avLst/>
          </a:prstGeom>
          <a:solidFill>
            <a:srgbClr val="697535"/>
          </a:solidFill>
          <a:ln w="25400" algn="ctr">
            <a:no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3080" name="Rectangle 15"/>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矩形 3"/>
          <p:cNvSpPr>
            <a:spLocks noChangeArrowheads="1"/>
          </p:cNvSpPr>
          <p:nvPr userDrawn="1"/>
        </p:nvSpPr>
        <p:spPr bwMode="auto">
          <a:xfrm>
            <a:off x="334433" y="908050"/>
            <a:ext cx="11516784" cy="7938"/>
          </a:xfrm>
          <a:prstGeom prst="rect">
            <a:avLst/>
          </a:prstGeom>
          <a:solidFill>
            <a:schemeClr val="accent1">
              <a:lumMod val="75000"/>
            </a:schemeClr>
          </a:solidFill>
          <a:ln w="25400" algn="ctr">
            <a:solidFill>
              <a:schemeClr val="accent1">
                <a:lumMod val="75000"/>
              </a:schemeClr>
            </a:solid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10" name="矩形 3"/>
          <p:cNvSpPr>
            <a:spLocks noChangeArrowheads="1"/>
          </p:cNvSpPr>
          <p:nvPr userDrawn="1"/>
        </p:nvSpPr>
        <p:spPr bwMode="auto">
          <a:xfrm>
            <a:off x="334433" y="920750"/>
            <a:ext cx="11516784" cy="7938"/>
          </a:xfrm>
          <a:prstGeom prst="rect">
            <a:avLst/>
          </a:prstGeom>
          <a:solidFill>
            <a:srgbClr val="697535"/>
          </a:solidFill>
          <a:ln w="25400" algn="ctr">
            <a:noFill/>
            <a:miter lim="800000"/>
          </a:ln>
        </p:spPr>
        <p:txBody>
          <a:bodyPr anchor="ctr"/>
          <a:lstStyle/>
          <a:p>
            <a:pPr algn="ctr" fontAlgn="auto">
              <a:spcBef>
                <a:spcPts val="0"/>
              </a:spcBef>
              <a:spcAft>
                <a:spcPts val="0"/>
              </a:spcAft>
              <a:defRPr/>
            </a:pPr>
            <a:endParaRPr lang="zh-CN" altLang="en-US" sz="1800">
              <a:solidFill>
                <a:schemeClr val="lt1"/>
              </a:solidFill>
              <a:latin typeface="+mn-lt"/>
              <a:ea typeface="+mn-ea"/>
            </a:endParaRPr>
          </a:p>
        </p:txBody>
      </p:sp>
      <p:sp>
        <p:nvSpPr>
          <p:cNvPr id="3083" name="Rectangle 20"/>
          <p:cNvSpPr>
            <a:spLocks noGrp="1" noChangeArrowheads="1"/>
          </p:cNvSpPr>
          <p:nvPr>
            <p:ph type="title"/>
          </p:nvPr>
        </p:nvSpPr>
        <p:spPr bwMode="auto">
          <a:xfrm>
            <a:off x="0" y="1"/>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7" name="矩形 16"/>
          <p:cNvSpPr>
            <a:spLocks noChangeArrowheads="1"/>
          </p:cNvSpPr>
          <p:nvPr userDrawn="1"/>
        </p:nvSpPr>
        <p:spPr bwMode="auto">
          <a:xfrm>
            <a:off x="0" y="6786564"/>
            <a:ext cx="12192000" cy="71437"/>
          </a:xfrm>
          <a:prstGeom prst="rect">
            <a:avLst/>
          </a:prstGeom>
          <a:solidFill>
            <a:schemeClr val="accent1">
              <a:lumMod val="75000"/>
            </a:schemeClr>
          </a:solidFill>
          <a:ln w="25400" algn="ctr">
            <a:noFill/>
            <a:miter lim="800000"/>
          </a:ln>
        </p:spPr>
        <p:txBody>
          <a:bodyPr anchor="ctr"/>
          <a:lstStyle/>
          <a:p>
            <a:pPr fontAlgn="auto">
              <a:spcBef>
                <a:spcPts val="0"/>
              </a:spcBef>
              <a:spcAft>
                <a:spcPts val="0"/>
              </a:spcAft>
              <a:defRPr/>
            </a:pPr>
            <a:endParaRPr lang="zh-CN" altLang="en-US" sz="2800">
              <a:solidFill>
                <a:schemeClr val="lt1"/>
              </a:solidFill>
              <a:latin typeface="+mn-lt"/>
              <a:ea typeface="+mn-ea"/>
            </a:endParaRPr>
          </a:p>
        </p:txBody>
      </p:sp>
      <p:sp>
        <p:nvSpPr>
          <p:cNvPr id="18" name="灯片编号占位符 17"/>
          <p:cNvSpPr>
            <a:spLocks noGrp="1"/>
          </p:cNvSpPr>
          <p:nvPr>
            <p:ph type="sldNum" sz="quarter" idx="4"/>
          </p:nvPr>
        </p:nvSpPr>
        <p:spPr>
          <a:xfrm>
            <a:off x="11353801" y="6489340"/>
            <a:ext cx="556684" cy="365125"/>
          </a:xfrm>
          <a:prstGeom prst="rect">
            <a:avLst/>
          </a:prstGeom>
        </p:spPr>
        <p:txBody>
          <a:bodyPr vert="horz" wrap="square" lIns="91440" tIns="45720" rIns="91440" bIns="45720" numCol="1" anchor="ctr" anchorCtr="0" compatLnSpc="1"/>
          <a:lstStyle>
            <a:lvl1pPr algn="ctr">
              <a:defRPr sz="800" b="1">
                <a:solidFill>
                  <a:schemeClr val="accent1">
                    <a:lumMod val="75000"/>
                  </a:schemeClr>
                </a:solidFill>
                <a:cs typeface="Arial" panose="020B0604020202020204" pitchFamily="34" charset="0"/>
              </a:defRPr>
            </a:lvl1pPr>
          </a:lstStyle>
          <a:p>
            <a:fld id="{DD6C0467-BC24-4F6C-B471-A2A33AC03273}" type="slidenum">
              <a:rPr lang="zh-CN" altLang="en-US" smtClean="0"/>
            </a:fld>
            <a:endParaRPr lang="en-US" altLang="zh-CN" dirty="0"/>
          </a:p>
        </p:txBody>
      </p:sp>
      <p:pic>
        <p:nvPicPr>
          <p:cNvPr id="19" name="图片 1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8270" y="181803"/>
            <a:ext cx="565082" cy="566186"/>
          </a:xfrm>
          <a:prstGeom prst="rect">
            <a:avLst/>
          </a:prstGeom>
        </p:spPr>
      </p:pic>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transition>
    <p:fade/>
  </p:transition>
  <p:hf hdr="0" ftr="0" dt="0"/>
  <p:txStyles>
    <p:title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3200">
          <a:solidFill>
            <a:schemeClr val="tx2">
              <a:lumMod val="75000"/>
            </a:schemeClr>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2">
              <a:lumMod val="75000"/>
            </a:schemeClr>
          </a:solidFill>
          <a:latin typeface="+mn-lt"/>
          <a:ea typeface="+mn-ea"/>
        </a:defRPr>
      </a:lvl2pPr>
      <a:lvl3pPr marL="1143000" indent="-228600" algn="l" rtl="0" eaLnBrk="0" fontAlgn="base" hangingPunct="0">
        <a:spcBef>
          <a:spcPct val="20000"/>
        </a:spcBef>
        <a:spcAft>
          <a:spcPct val="0"/>
        </a:spcAft>
        <a:buChar char="•"/>
        <a:defRPr sz="2400">
          <a:solidFill>
            <a:schemeClr val="tx2">
              <a:lumMod val="75000"/>
            </a:schemeClr>
          </a:solidFill>
          <a:latin typeface="+mn-lt"/>
          <a:ea typeface="+mn-ea"/>
        </a:defRPr>
      </a:lvl3pPr>
      <a:lvl4pPr marL="1600200" indent="-228600" algn="l" rtl="0" eaLnBrk="0" fontAlgn="base" hangingPunct="0">
        <a:spcBef>
          <a:spcPct val="20000"/>
        </a:spcBef>
        <a:spcAft>
          <a:spcPct val="0"/>
        </a:spcAft>
        <a:buChar char="–"/>
        <a:defRPr sz="2000">
          <a:solidFill>
            <a:schemeClr val="tx2">
              <a:lumMod val="75000"/>
            </a:schemeClr>
          </a:solidFill>
          <a:latin typeface="+mn-lt"/>
          <a:ea typeface="+mn-ea"/>
        </a:defRPr>
      </a:lvl4pPr>
      <a:lvl5pPr marL="2057400" indent="-228600" algn="l" rtl="0" eaLnBrk="0" fontAlgn="base" hangingPunct="0">
        <a:spcBef>
          <a:spcPct val="20000"/>
        </a:spcBef>
        <a:spcAft>
          <a:spcPct val="0"/>
        </a:spcAft>
        <a:buChar char="»"/>
        <a:defRPr sz="2000">
          <a:solidFill>
            <a:schemeClr val="tx2">
              <a:lumMod val="75000"/>
            </a:schemeClr>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hyperlink" Target="&#27743;&#33487;&#30465;&#26412;&#31185;&#27605;&#19994;&#35770;&#25991;&#65288;&#35774;&#35745;&#65289;&#25277;&#26816;&#35780;&#35758;&#35201;&#32032;&#21450;&#35780;&#20215;&#32454;&#21017;.docx" TargetMode="External"/><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emf"/><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2015&#27605;&#19994;&#35774;&#35745;&#65288;&#35770;&#25991;&#65289;&#36873;&#39064;&#24773;&#20917;&#34920;.xls"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jwc.seu.edu.cn/2019/0325/c21686a266674/page.htm"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image" Target="../media/image11.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195703" y="1529711"/>
            <a:ext cx="9853444" cy="2584450"/>
          </a:xfrm>
          <a:prstGeom prst="rect">
            <a:avLst/>
          </a:prstGeom>
          <a:noFill/>
          <a:ln w="9525">
            <a:noFill/>
            <a:miter lim="800000"/>
          </a:ln>
        </p:spPr>
        <p:txBody>
          <a:bodyPr wrap="square" lIns="36000" rIns="36000">
            <a:spAutoFit/>
          </a:bodyPr>
          <a:lstStyle/>
          <a:p>
            <a:pPr lvl="0" algn="ctr" fontAlgn="base">
              <a:lnSpc>
                <a:spcPct val="150000"/>
              </a:lnSpc>
              <a:spcBef>
                <a:spcPct val="0"/>
              </a:spcBef>
              <a:spcAft>
                <a:spcPct val="0"/>
              </a:spcAft>
              <a:defRPr/>
            </a:pPr>
            <a:r>
              <a:rPr lang="zh-CN" altLang="en-US" sz="5400" b="1" dirty="0">
                <a:solidFill>
                  <a:srgbClr val="2F2F2F"/>
                </a:solidFill>
                <a:latin typeface="华文楷体" panose="02010600040101010101" pitchFamily="2" charset="-122"/>
                <a:ea typeface="华文楷体" panose="02010600040101010101" pitchFamily="2" charset="-122"/>
                <a:cs typeface="+mj-cs"/>
              </a:rPr>
              <a:t>信息科学与工程学院</a:t>
            </a:r>
            <a:br>
              <a:rPr lang="en-US" altLang="zh-CN" sz="5400" b="1" dirty="0">
                <a:solidFill>
                  <a:srgbClr val="2F2F2F"/>
                </a:solidFill>
                <a:latin typeface="华文楷体" panose="02010600040101010101" pitchFamily="2" charset="-122"/>
                <a:ea typeface="华文楷体" panose="02010600040101010101" pitchFamily="2" charset="-122"/>
                <a:cs typeface="+mj-cs"/>
              </a:rPr>
            </a:br>
            <a:r>
              <a:rPr lang="zh-CN" altLang="en-US" sz="5400" b="1" dirty="0">
                <a:solidFill>
                  <a:srgbClr val="2F2F2F"/>
                </a:solidFill>
                <a:latin typeface="华文楷体" panose="02010600040101010101" pitchFamily="2" charset="-122"/>
                <a:ea typeface="华文楷体" panose="02010600040101010101" pitchFamily="2" charset="-122"/>
                <a:cs typeface="+mj-cs"/>
              </a:rPr>
              <a:t>本科毕业设计相关工作说明</a:t>
            </a:r>
            <a:endParaRPr kumimoji="0" lang="zh-CN" altLang="en-US" sz="4400" b="1" i="0" u="none" strike="noStrike" kern="10" cap="none" spc="0" normalizeH="0" baseline="0" noProof="0" dirty="0">
              <a:ln w="9525">
                <a:noFill/>
                <a:round/>
              </a:ln>
              <a:solidFill>
                <a:srgbClr val="242852">
                  <a:lumMod val="75000"/>
                </a:srgbClr>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Rectangle 8"/>
          <p:cNvSpPr>
            <a:spLocks noChangeArrowheads="1"/>
          </p:cNvSpPr>
          <p:nvPr/>
        </p:nvSpPr>
        <p:spPr bwMode="auto">
          <a:xfrm>
            <a:off x="1383750" y="5063728"/>
            <a:ext cx="9222866" cy="688265"/>
          </a:xfrm>
          <a:prstGeom prst="rect">
            <a:avLst/>
          </a:prstGeom>
          <a:noFill/>
          <a:ln w="9525">
            <a:noFill/>
            <a:miter lim="800000"/>
          </a:ln>
        </p:spPr>
        <p:txBody>
          <a:bodyPr wrap="square">
            <a:spAutoFit/>
          </a:bodyPr>
          <a:lstStyle/>
          <a:p>
            <a:pPr marL="0" marR="0" lvl="0" indent="0" algn="ctr" defTabSz="914400" rtl="0" eaLnBrk="1" fontAlgn="base" latinLnBrk="0" hangingPunct="1">
              <a:lnSpc>
                <a:spcPct val="135000"/>
              </a:lnSpc>
              <a:spcBef>
                <a:spcPct val="0"/>
              </a:spcBef>
              <a:spcAft>
                <a:spcPct val="0"/>
              </a:spcAft>
              <a:buClrTx/>
              <a:buSzTx/>
              <a:buFontTx/>
              <a:buNone/>
              <a:defRPr/>
            </a:pPr>
            <a:r>
              <a:rPr kumimoji="0" lang="en-US" altLang="zh-CN" sz="3200" b="0" i="0" u="none" strike="noStrike" kern="10" cap="none" spc="0" normalizeH="0" baseline="0" noProof="0" dirty="0">
                <a:ln w="9525">
                  <a:noFill/>
                  <a:round/>
                </a:ln>
                <a:gradFill rotWithShape="1">
                  <a:gsLst>
                    <a:gs pos="0">
                      <a:prstClr val="white"/>
                    </a:gs>
                    <a:gs pos="100000">
                      <a:prstClr val="white"/>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2025</a:t>
            </a:r>
            <a:r>
              <a:rPr kumimoji="0" lang="zh-CN" altLang="en-US" sz="3200" b="0" i="0" u="none" strike="noStrike" kern="10" cap="none" spc="0" normalizeH="0" baseline="0" noProof="0" dirty="0">
                <a:ln w="9525">
                  <a:noFill/>
                  <a:round/>
                </a:ln>
                <a:gradFill rotWithShape="1">
                  <a:gsLst>
                    <a:gs pos="0">
                      <a:prstClr val="white"/>
                    </a:gs>
                    <a:gs pos="100000">
                      <a:prstClr val="white"/>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年 </a:t>
            </a:r>
            <a:r>
              <a:rPr lang="en-US" altLang="zh-CN" sz="3200" kern="10" dirty="0">
                <a:ln w="9525">
                  <a:noFill/>
                  <a:round/>
                </a:ln>
                <a:gradFill rotWithShape="1">
                  <a:gsLst>
                    <a:gs pos="0">
                      <a:prstClr val="white"/>
                    </a:gs>
                    <a:gs pos="100000">
                      <a:prstClr val="white"/>
                    </a:gs>
                  </a:gsLst>
                  <a:lin ang="5400000" scaled="1"/>
                </a:gradFill>
                <a:latin typeface="Times New Roman" panose="02020603050405020304" pitchFamily="18" charset="0"/>
                <a:ea typeface="微软雅黑" panose="020B0503020204020204" pitchFamily="34" charset="-122"/>
                <a:cs typeface="Times New Roman" panose="02020603050405020304" pitchFamily="18" charset="0"/>
              </a:rPr>
              <a:t>11</a:t>
            </a:r>
            <a:r>
              <a:rPr kumimoji="0" lang="zh-CN" altLang="en-US" sz="3200" b="0" i="0" u="none" strike="noStrike" kern="10" cap="none" spc="0" normalizeH="0" baseline="0" noProof="0" dirty="0">
                <a:ln w="9525">
                  <a:noFill/>
                  <a:round/>
                </a:ln>
                <a:gradFill rotWithShape="1">
                  <a:gsLst>
                    <a:gs pos="0">
                      <a:prstClr val="white"/>
                    </a:gs>
                    <a:gs pos="100000">
                      <a:prstClr val="white"/>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月</a:t>
            </a:r>
            <a:endParaRPr kumimoji="0" lang="zh-CN" altLang="en-US" sz="3200" b="0" i="0" u="none" strike="noStrike" kern="10" cap="none" spc="0" normalizeH="0" baseline="0" noProof="0" dirty="0">
              <a:ln w="9525">
                <a:noFill/>
                <a:round/>
              </a:ln>
              <a:gradFill rotWithShape="1">
                <a:gsLst>
                  <a:gs pos="0">
                    <a:prstClr val="white"/>
                  </a:gs>
                  <a:gs pos="100000">
                    <a:prstClr val="white"/>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6741" y="321393"/>
            <a:ext cx="2850460" cy="707886"/>
          </a:xfrm>
          <a:prstGeom prst="rect">
            <a:avLst/>
          </a:prstGeom>
        </p:spPr>
        <p:txBody>
          <a:bodyPr wrap="none">
            <a:spAutoFit/>
          </a:bodyPr>
          <a:lstStyle/>
          <a:p>
            <a:pPr eaLnBrk="0" hangingPunct="0">
              <a:buClr>
                <a:schemeClr val="accent2"/>
              </a:buClr>
              <a:buSzPct val="110000"/>
            </a:pPr>
            <a:r>
              <a:rPr lang="en-US" altLang="zh-CN"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1. </a:t>
            </a:r>
            <a:r>
              <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总体要求</a:t>
            </a:r>
            <a:endPar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p:cNvPicPr>
            <a:picLocks noChangeAspect="1"/>
          </p:cNvPicPr>
          <p:nvPr/>
        </p:nvPicPr>
        <p:blipFill>
          <a:blip r:embed="rId1"/>
          <a:stretch>
            <a:fillRect/>
          </a:stretch>
        </p:blipFill>
        <p:spPr>
          <a:xfrm>
            <a:off x="1" y="1088125"/>
            <a:ext cx="3194755" cy="4251520"/>
          </a:xfrm>
          <a:prstGeom prst="rect">
            <a:avLst/>
          </a:prstGeom>
          <a:ln>
            <a:noFill/>
          </a:ln>
          <a:effectLst>
            <a:outerShdw blurRad="292100" dist="139700" dir="2700000" algn="tl" rotWithShape="0">
              <a:srgbClr val="333333">
                <a:alpha val="65000"/>
              </a:srgbClr>
            </a:outerShdw>
          </a:effectLst>
        </p:spPr>
      </p:pic>
      <p:pic>
        <p:nvPicPr>
          <p:cNvPr id="6" name="图片 5"/>
          <p:cNvPicPr>
            <a:picLocks noChangeAspect="1"/>
          </p:cNvPicPr>
          <p:nvPr/>
        </p:nvPicPr>
        <p:blipFill>
          <a:blip r:embed="rId2"/>
          <a:stretch>
            <a:fillRect/>
          </a:stretch>
        </p:blipFill>
        <p:spPr>
          <a:xfrm>
            <a:off x="2797558" y="1518355"/>
            <a:ext cx="3378200" cy="4496296"/>
          </a:xfrm>
          <a:prstGeom prst="rect">
            <a:avLst/>
          </a:prstGeom>
          <a:ln>
            <a:noFill/>
          </a:ln>
          <a:effectLst>
            <a:outerShdw blurRad="292100" dist="139700" dir="2700000" algn="tl" rotWithShape="0">
              <a:srgbClr val="333333">
                <a:alpha val="65000"/>
              </a:srgbClr>
            </a:outerShdw>
          </a:effectLst>
        </p:spPr>
      </p:pic>
      <p:sp>
        <p:nvSpPr>
          <p:cNvPr id="7" name="矩形 6"/>
          <p:cNvSpPr/>
          <p:nvPr/>
        </p:nvSpPr>
        <p:spPr>
          <a:xfrm>
            <a:off x="6345090" y="1615388"/>
            <a:ext cx="5846909" cy="2409827"/>
          </a:xfrm>
          <a:prstGeom prst="rect">
            <a:avLst/>
          </a:prstGeom>
          <a:ln w="19050">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457200" lvl="2" indent="-457200">
              <a:lnSpc>
                <a:spcPts val="4000"/>
              </a:lnSpc>
              <a:spcBef>
                <a:spcPts val="1200"/>
              </a:spcBef>
              <a:buClr>
                <a:srgbClr val="ED7D31"/>
              </a:buClr>
              <a:buFont typeface="Wingdings" panose="05000000000000000000" pitchFamily="2" charset="2"/>
              <a:buChar char="u"/>
            </a:pPr>
            <a:r>
              <a:rPr lang="zh-CN" altLang="en-US" sz="26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重视毕业设计，提升毕业设计课程意识；</a:t>
            </a:r>
            <a:endParaRPr lang="en-US" altLang="zh-CN" sz="26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2" indent="-457200">
              <a:lnSpc>
                <a:spcPts val="4000"/>
              </a:lnSpc>
              <a:spcBef>
                <a:spcPts val="1200"/>
              </a:spcBef>
              <a:buClr>
                <a:srgbClr val="ED7D31"/>
              </a:buClr>
              <a:buFont typeface="Wingdings" panose="05000000000000000000" pitchFamily="2" charset="2"/>
              <a:buChar char="u"/>
            </a:pPr>
            <a:r>
              <a:rPr lang="zh-CN" altLang="en-US" sz="26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紧扣时间节点，明确毕设各进程；</a:t>
            </a:r>
            <a:endParaRPr lang="en-US" altLang="zh-CN" sz="26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2" indent="-457200">
              <a:lnSpc>
                <a:spcPts val="4000"/>
              </a:lnSpc>
              <a:spcBef>
                <a:spcPts val="1200"/>
              </a:spcBef>
              <a:buClr>
                <a:srgbClr val="ED7D31"/>
              </a:buClr>
              <a:buFont typeface="Wingdings" panose="05000000000000000000" pitchFamily="2" charset="2"/>
              <a:buChar char="u"/>
            </a:pPr>
            <a:r>
              <a:rPr lang="zh-CN" altLang="en-US" sz="26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规范过程材料，提升论文质量；</a:t>
            </a:r>
            <a:endParaRPr lang="zh-CN" altLang="en-US" sz="2000" dirty="0"/>
          </a:p>
        </p:txBody>
      </p:sp>
      <p:sp>
        <p:nvSpPr>
          <p:cNvPr id="9" name="矩形 8"/>
          <p:cNvSpPr/>
          <p:nvPr/>
        </p:nvSpPr>
        <p:spPr>
          <a:xfrm>
            <a:off x="6345091" y="4307527"/>
            <a:ext cx="5846909" cy="2263440"/>
          </a:xfrm>
          <a:prstGeom prst="rect">
            <a:avLst/>
          </a:prstGeom>
          <a:ln w="19050">
            <a:solidFill>
              <a:srgbClr val="ED7D31"/>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457200" lvl="2" indent="-457200">
              <a:lnSpc>
                <a:spcPts val="4000"/>
              </a:lnSpc>
              <a:spcBef>
                <a:spcPts val="1200"/>
              </a:spcBef>
              <a:buClr>
                <a:srgbClr val="ED7D31"/>
              </a:buClr>
              <a:buFont typeface="Wingdings" panose="05000000000000000000" pitchFamily="2" charset="2"/>
              <a:buChar char="u"/>
            </a:pPr>
            <a:r>
              <a:rPr lang="zh-CN" altLang="en-US" sz="2600" b="1"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落实教育部及省教育厅的各类文件要求</a:t>
            </a:r>
            <a:endParaRPr lang="en-US" altLang="zh-CN" sz="2600" b="1"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2" indent="-457200">
              <a:lnSpc>
                <a:spcPts val="4000"/>
              </a:lnSpc>
              <a:spcBef>
                <a:spcPts val="1200"/>
              </a:spcBef>
              <a:buClr>
                <a:srgbClr val="ED7D31"/>
              </a:buClr>
              <a:buFont typeface="Wingdings" panose="05000000000000000000" pitchFamily="2" charset="2"/>
              <a:buChar char="u"/>
            </a:pPr>
            <a:r>
              <a:rPr lang="zh-CN" altLang="en-US" sz="2800" b="1" kern="100" dirty="0">
                <a:latin typeface="等线" panose="02010600030101010101" charset="-122"/>
                <a:ea typeface="华文中宋" panose="02010600040101010101" pitchFamily="2" charset="-122"/>
                <a:cs typeface="Times New Roman" panose="02020603050405020304" pitchFamily="18" charset="0"/>
              </a:rPr>
              <a:t>参见：</a:t>
            </a:r>
            <a:r>
              <a:rPr lang="zh-CN" altLang="zh-CN" sz="2800" b="1" kern="100" dirty="0">
                <a:latin typeface="等线" panose="02010600030101010101" charset="-122"/>
                <a:ea typeface="华文中宋" panose="02010600040101010101" pitchFamily="2" charset="-122"/>
                <a:cs typeface="Times New Roman" panose="02020603050405020304" pitchFamily="18" charset="0"/>
                <a:hlinkClick r:id="rId3" action="ppaction://hlinkfile"/>
              </a:rPr>
              <a:t>江苏省本科毕业论文（设计）抽检评议要素及评价细则</a:t>
            </a:r>
            <a:endParaRPr lang="zh-CN" altLang="zh-CN" sz="1400" kern="100" dirty="0">
              <a:latin typeface="等线" panose="02010600030101010101" charset="-122"/>
              <a:cs typeface="Times New Roman" panose="02020603050405020304" pitchFamily="18"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mn-ea"/>
                <a:ea typeface="+mn-ea"/>
              </a:rPr>
              <a:t>毕业设计流程说明</a:t>
            </a:r>
            <a:endParaRPr lang="zh-CN" altLang="en-US" sz="2800" dirty="0">
              <a:solidFill>
                <a:schemeClr val="tx1"/>
              </a:solidFill>
              <a:latin typeface="+mn-ea"/>
              <a:ea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grpSp>
        <p:nvGrpSpPr>
          <p:cNvPr id="8" name="组合 7"/>
          <p:cNvGrpSpPr/>
          <p:nvPr/>
        </p:nvGrpSpPr>
        <p:grpSpPr>
          <a:xfrm>
            <a:off x="1231466" y="1397310"/>
            <a:ext cx="1524000" cy="806205"/>
            <a:chOff x="719667" y="1346200"/>
            <a:chExt cx="1295400" cy="745067"/>
          </a:xfrm>
        </p:grpSpPr>
        <p:sp>
          <p:nvSpPr>
            <p:cNvPr id="4" name="矩形 3"/>
            <p:cNvSpPr/>
            <p:nvPr/>
          </p:nvSpPr>
          <p:spPr bwMode="auto">
            <a:xfrm>
              <a:off x="719667" y="1346200"/>
              <a:ext cx="1295400" cy="7450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文本框 2"/>
            <p:cNvSpPr txBox="1"/>
            <p:nvPr/>
          </p:nvSpPr>
          <p:spPr>
            <a:xfrm>
              <a:off x="1013671" y="1502691"/>
              <a:ext cx="829734" cy="461665"/>
            </a:xfrm>
            <a:prstGeom prst="rect">
              <a:avLst/>
            </a:prstGeom>
            <a:noFill/>
          </p:spPr>
          <p:txBody>
            <a:bodyPr wrap="square" rtlCol="0">
              <a:spAutoFit/>
            </a:bodyPr>
            <a:lstStyle/>
            <a:p>
              <a:r>
                <a:rPr lang="zh-CN" altLang="en-US" sz="2400" b="1" dirty="0"/>
                <a:t>选题</a:t>
              </a:r>
              <a:endParaRPr lang="zh-CN" altLang="en-US" sz="2400" b="1" dirty="0"/>
            </a:p>
          </p:txBody>
        </p:sp>
      </p:grpSp>
      <p:grpSp>
        <p:nvGrpSpPr>
          <p:cNvPr id="17" name="组合 16"/>
          <p:cNvGrpSpPr/>
          <p:nvPr/>
        </p:nvGrpSpPr>
        <p:grpSpPr>
          <a:xfrm>
            <a:off x="3913636" y="1397310"/>
            <a:ext cx="1524000" cy="806205"/>
            <a:chOff x="2768600" y="1346200"/>
            <a:chExt cx="1524000" cy="806205"/>
          </a:xfrm>
        </p:grpSpPr>
        <p:sp>
          <p:nvSpPr>
            <p:cNvPr id="10" name="矩形 9"/>
            <p:cNvSpPr/>
            <p:nvPr/>
          </p:nvSpPr>
          <p:spPr bwMode="auto">
            <a:xfrm>
              <a:off x="2768600" y="1346200"/>
              <a:ext cx="1524000" cy="806205"/>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文本框 11"/>
            <p:cNvSpPr txBox="1"/>
            <p:nvPr/>
          </p:nvSpPr>
          <p:spPr>
            <a:xfrm>
              <a:off x="2976033" y="1515532"/>
              <a:ext cx="1109134" cy="461665"/>
            </a:xfrm>
            <a:prstGeom prst="rect">
              <a:avLst/>
            </a:prstGeom>
            <a:noFill/>
          </p:spPr>
          <p:txBody>
            <a:bodyPr wrap="square" rtlCol="0">
              <a:spAutoFit/>
            </a:bodyPr>
            <a:lstStyle/>
            <a:p>
              <a:r>
                <a:rPr lang="zh-CN" altLang="en-US" sz="2400" b="1" dirty="0">
                  <a:solidFill>
                    <a:schemeClr val="bg1"/>
                  </a:solidFill>
                </a:rPr>
                <a:t>任务书</a:t>
              </a:r>
              <a:endParaRPr lang="zh-CN" altLang="en-US" sz="2400" b="1" dirty="0">
                <a:solidFill>
                  <a:schemeClr val="bg1"/>
                </a:solidFill>
              </a:endParaRPr>
            </a:p>
          </p:txBody>
        </p:sp>
      </p:grpSp>
      <p:grpSp>
        <p:nvGrpSpPr>
          <p:cNvPr id="13" name="组合 12"/>
          <p:cNvGrpSpPr/>
          <p:nvPr/>
        </p:nvGrpSpPr>
        <p:grpSpPr>
          <a:xfrm>
            <a:off x="6595806" y="1397310"/>
            <a:ext cx="1524000" cy="806205"/>
            <a:chOff x="719667" y="1346200"/>
            <a:chExt cx="1295400" cy="745067"/>
          </a:xfrm>
        </p:grpSpPr>
        <p:sp>
          <p:nvSpPr>
            <p:cNvPr id="14" name="矩形 13"/>
            <p:cNvSpPr/>
            <p:nvPr/>
          </p:nvSpPr>
          <p:spPr bwMode="auto">
            <a:xfrm>
              <a:off x="719667" y="1346200"/>
              <a:ext cx="1295400" cy="7450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文本框 14"/>
            <p:cNvSpPr txBox="1"/>
            <p:nvPr/>
          </p:nvSpPr>
          <p:spPr>
            <a:xfrm>
              <a:off x="1034108" y="1492763"/>
              <a:ext cx="673715" cy="426655"/>
            </a:xfrm>
            <a:prstGeom prst="rect">
              <a:avLst/>
            </a:prstGeom>
            <a:noFill/>
          </p:spPr>
          <p:txBody>
            <a:bodyPr wrap="square" rtlCol="0">
              <a:spAutoFit/>
            </a:bodyPr>
            <a:lstStyle/>
            <a:p>
              <a:r>
                <a:rPr lang="zh-CN" altLang="en-US" sz="2400" b="1" dirty="0"/>
                <a:t>开题</a:t>
              </a:r>
              <a:endParaRPr lang="zh-CN" altLang="en-US" sz="2400" b="1" dirty="0"/>
            </a:p>
          </p:txBody>
        </p:sp>
      </p:grpSp>
      <p:grpSp>
        <p:nvGrpSpPr>
          <p:cNvPr id="18" name="组合 17"/>
          <p:cNvGrpSpPr/>
          <p:nvPr/>
        </p:nvGrpSpPr>
        <p:grpSpPr>
          <a:xfrm>
            <a:off x="9277975" y="1397310"/>
            <a:ext cx="1536698" cy="830997"/>
            <a:chOff x="2768600" y="1346199"/>
            <a:chExt cx="1536698" cy="830997"/>
          </a:xfrm>
        </p:grpSpPr>
        <p:sp>
          <p:nvSpPr>
            <p:cNvPr id="19" name="矩形 18"/>
            <p:cNvSpPr/>
            <p:nvPr/>
          </p:nvSpPr>
          <p:spPr bwMode="auto">
            <a:xfrm>
              <a:off x="2768600" y="1346200"/>
              <a:ext cx="1524000" cy="806205"/>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文本框 19"/>
            <p:cNvSpPr txBox="1"/>
            <p:nvPr/>
          </p:nvSpPr>
          <p:spPr>
            <a:xfrm>
              <a:off x="3115732" y="1346199"/>
              <a:ext cx="1189566" cy="830997"/>
            </a:xfrm>
            <a:prstGeom prst="rect">
              <a:avLst/>
            </a:prstGeom>
            <a:noFill/>
          </p:spPr>
          <p:txBody>
            <a:bodyPr wrap="square" rtlCol="0">
              <a:spAutoFit/>
            </a:bodyPr>
            <a:lstStyle/>
            <a:p>
              <a:r>
                <a:rPr lang="zh-CN" altLang="en-US" sz="2400" b="1" dirty="0">
                  <a:solidFill>
                    <a:schemeClr val="bg1"/>
                  </a:solidFill>
                </a:rPr>
                <a:t>中期</a:t>
              </a:r>
              <a:endParaRPr lang="en-US" altLang="zh-CN" sz="2400" b="1" dirty="0">
                <a:solidFill>
                  <a:schemeClr val="bg1"/>
                </a:solidFill>
              </a:endParaRPr>
            </a:p>
            <a:p>
              <a:r>
                <a:rPr lang="zh-CN" altLang="en-US" sz="2400" b="1" dirty="0">
                  <a:solidFill>
                    <a:schemeClr val="bg1"/>
                  </a:solidFill>
                </a:rPr>
                <a:t>检查</a:t>
              </a:r>
              <a:endParaRPr lang="zh-CN" altLang="en-US" sz="2400" b="1" dirty="0">
                <a:solidFill>
                  <a:schemeClr val="bg1"/>
                </a:solidFill>
              </a:endParaRPr>
            </a:p>
          </p:txBody>
        </p:sp>
      </p:grpSp>
      <p:grpSp>
        <p:nvGrpSpPr>
          <p:cNvPr id="21" name="组合 20"/>
          <p:cNvGrpSpPr/>
          <p:nvPr/>
        </p:nvGrpSpPr>
        <p:grpSpPr>
          <a:xfrm>
            <a:off x="9499601" y="4142009"/>
            <a:ext cx="1600863" cy="830997"/>
            <a:chOff x="719667" y="1344187"/>
            <a:chExt cx="1360734" cy="767979"/>
          </a:xfrm>
        </p:grpSpPr>
        <p:sp>
          <p:nvSpPr>
            <p:cNvPr id="22" name="矩形 21"/>
            <p:cNvSpPr/>
            <p:nvPr/>
          </p:nvSpPr>
          <p:spPr bwMode="auto">
            <a:xfrm>
              <a:off x="719667" y="1346200"/>
              <a:ext cx="1295400" cy="7450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3" name="文本框 22"/>
            <p:cNvSpPr txBox="1"/>
            <p:nvPr/>
          </p:nvSpPr>
          <p:spPr>
            <a:xfrm>
              <a:off x="785001" y="1344187"/>
              <a:ext cx="1295400" cy="767979"/>
            </a:xfrm>
            <a:prstGeom prst="rect">
              <a:avLst/>
            </a:prstGeom>
            <a:noFill/>
          </p:spPr>
          <p:txBody>
            <a:bodyPr wrap="square" rtlCol="0">
              <a:spAutoFit/>
            </a:bodyPr>
            <a:lstStyle/>
            <a:p>
              <a:r>
                <a:rPr lang="zh-CN" altLang="en-US" sz="2400" b="1" dirty="0"/>
                <a:t>论文提交及查重</a:t>
              </a:r>
              <a:endParaRPr lang="zh-CN" altLang="en-US" sz="2400" b="1" dirty="0"/>
            </a:p>
          </p:txBody>
        </p:sp>
      </p:grpSp>
      <p:grpSp>
        <p:nvGrpSpPr>
          <p:cNvPr id="24" name="组合 23"/>
          <p:cNvGrpSpPr/>
          <p:nvPr/>
        </p:nvGrpSpPr>
        <p:grpSpPr>
          <a:xfrm>
            <a:off x="7278534" y="4144187"/>
            <a:ext cx="1524000" cy="806205"/>
            <a:chOff x="2768600" y="1346200"/>
            <a:chExt cx="1524000" cy="806205"/>
          </a:xfrm>
        </p:grpSpPr>
        <p:sp>
          <p:nvSpPr>
            <p:cNvPr id="25" name="矩形 24"/>
            <p:cNvSpPr/>
            <p:nvPr/>
          </p:nvSpPr>
          <p:spPr bwMode="auto">
            <a:xfrm>
              <a:off x="2768600" y="1346200"/>
              <a:ext cx="1524000" cy="806205"/>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文本框 25"/>
            <p:cNvSpPr txBox="1"/>
            <p:nvPr/>
          </p:nvSpPr>
          <p:spPr>
            <a:xfrm>
              <a:off x="3088218" y="1518469"/>
              <a:ext cx="1189566" cy="461665"/>
            </a:xfrm>
            <a:prstGeom prst="rect">
              <a:avLst/>
            </a:prstGeom>
            <a:noFill/>
          </p:spPr>
          <p:txBody>
            <a:bodyPr wrap="square" rtlCol="0">
              <a:spAutoFit/>
            </a:bodyPr>
            <a:lstStyle/>
            <a:p>
              <a:r>
                <a:rPr lang="zh-CN" altLang="en-US" sz="2400" b="1" dirty="0">
                  <a:solidFill>
                    <a:schemeClr val="bg1"/>
                  </a:solidFill>
                </a:rPr>
                <a:t>盲审</a:t>
              </a:r>
              <a:endParaRPr lang="en-US" altLang="zh-CN" sz="2400" b="1" dirty="0">
                <a:solidFill>
                  <a:schemeClr val="bg1"/>
                </a:solidFill>
              </a:endParaRPr>
            </a:p>
          </p:txBody>
        </p:sp>
      </p:grpSp>
      <p:grpSp>
        <p:nvGrpSpPr>
          <p:cNvPr id="27" name="组合 26"/>
          <p:cNvGrpSpPr/>
          <p:nvPr/>
        </p:nvGrpSpPr>
        <p:grpSpPr>
          <a:xfrm>
            <a:off x="5057465" y="4144187"/>
            <a:ext cx="1524000" cy="806205"/>
            <a:chOff x="719667" y="1346200"/>
            <a:chExt cx="1295400" cy="745067"/>
          </a:xfrm>
        </p:grpSpPr>
        <p:sp>
          <p:nvSpPr>
            <p:cNvPr id="28" name="矩形 27"/>
            <p:cNvSpPr/>
            <p:nvPr/>
          </p:nvSpPr>
          <p:spPr bwMode="auto">
            <a:xfrm>
              <a:off x="719667" y="1346200"/>
              <a:ext cx="1295400" cy="7450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9" name="文本框 28"/>
            <p:cNvSpPr txBox="1"/>
            <p:nvPr/>
          </p:nvSpPr>
          <p:spPr>
            <a:xfrm>
              <a:off x="1017217" y="1487900"/>
              <a:ext cx="700299" cy="426655"/>
            </a:xfrm>
            <a:prstGeom prst="rect">
              <a:avLst/>
            </a:prstGeom>
            <a:noFill/>
          </p:spPr>
          <p:txBody>
            <a:bodyPr wrap="square" rtlCol="0">
              <a:spAutoFit/>
            </a:bodyPr>
            <a:lstStyle/>
            <a:p>
              <a:r>
                <a:rPr lang="zh-CN" altLang="en-US" sz="2400" b="1" dirty="0"/>
                <a:t>答辩</a:t>
              </a:r>
              <a:endParaRPr lang="zh-CN" altLang="en-US" sz="2400" b="1" dirty="0"/>
            </a:p>
          </p:txBody>
        </p:sp>
      </p:grpSp>
      <p:grpSp>
        <p:nvGrpSpPr>
          <p:cNvPr id="30" name="组合 29"/>
          <p:cNvGrpSpPr/>
          <p:nvPr/>
        </p:nvGrpSpPr>
        <p:grpSpPr>
          <a:xfrm>
            <a:off x="2836396" y="4144187"/>
            <a:ext cx="1524000" cy="806205"/>
            <a:chOff x="2768600" y="1346200"/>
            <a:chExt cx="1524000" cy="806205"/>
          </a:xfrm>
        </p:grpSpPr>
        <p:sp>
          <p:nvSpPr>
            <p:cNvPr id="31" name="矩形 30"/>
            <p:cNvSpPr/>
            <p:nvPr/>
          </p:nvSpPr>
          <p:spPr bwMode="auto">
            <a:xfrm>
              <a:off x="2768600" y="1346200"/>
              <a:ext cx="1524000" cy="806205"/>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文本框 31"/>
            <p:cNvSpPr txBox="1"/>
            <p:nvPr/>
          </p:nvSpPr>
          <p:spPr>
            <a:xfrm>
              <a:off x="2838979" y="1518469"/>
              <a:ext cx="1438805" cy="461665"/>
            </a:xfrm>
            <a:prstGeom prst="rect">
              <a:avLst/>
            </a:prstGeom>
            <a:noFill/>
          </p:spPr>
          <p:txBody>
            <a:bodyPr wrap="square" rtlCol="0">
              <a:spAutoFit/>
            </a:bodyPr>
            <a:lstStyle/>
            <a:p>
              <a:r>
                <a:rPr lang="zh-CN" altLang="en-US" sz="2400" b="1" dirty="0">
                  <a:solidFill>
                    <a:schemeClr val="bg1"/>
                  </a:solidFill>
                </a:rPr>
                <a:t>评优归档</a:t>
              </a:r>
              <a:endParaRPr lang="en-US" altLang="zh-CN" sz="2400" b="1" dirty="0">
                <a:solidFill>
                  <a:schemeClr val="bg1"/>
                </a:solidFill>
              </a:endParaRPr>
            </a:p>
          </p:txBody>
        </p:sp>
      </p:grpSp>
      <p:grpSp>
        <p:nvGrpSpPr>
          <p:cNvPr id="33" name="组合 32"/>
          <p:cNvGrpSpPr/>
          <p:nvPr/>
        </p:nvGrpSpPr>
        <p:grpSpPr>
          <a:xfrm>
            <a:off x="615327" y="4144187"/>
            <a:ext cx="1524000" cy="806205"/>
            <a:chOff x="719667" y="1346200"/>
            <a:chExt cx="1295400" cy="745067"/>
          </a:xfrm>
        </p:grpSpPr>
        <p:sp>
          <p:nvSpPr>
            <p:cNvPr id="34" name="矩形 33"/>
            <p:cNvSpPr/>
            <p:nvPr/>
          </p:nvSpPr>
          <p:spPr bwMode="auto">
            <a:xfrm>
              <a:off x="719667" y="1346200"/>
              <a:ext cx="1295400" cy="7450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5" name="文本框 34"/>
            <p:cNvSpPr txBox="1"/>
            <p:nvPr/>
          </p:nvSpPr>
          <p:spPr>
            <a:xfrm>
              <a:off x="1024995" y="1487900"/>
              <a:ext cx="676276" cy="426655"/>
            </a:xfrm>
            <a:prstGeom prst="rect">
              <a:avLst/>
            </a:prstGeom>
            <a:noFill/>
          </p:spPr>
          <p:txBody>
            <a:bodyPr wrap="square" rtlCol="0">
              <a:spAutoFit/>
            </a:bodyPr>
            <a:lstStyle/>
            <a:p>
              <a:r>
                <a:rPr lang="zh-CN" altLang="en-US" sz="2400" b="1" dirty="0"/>
                <a:t>抽检</a:t>
              </a:r>
              <a:endParaRPr lang="zh-CN" altLang="en-US" sz="2400" b="1" dirty="0"/>
            </a:p>
          </p:txBody>
        </p:sp>
      </p:grpSp>
      <p:sp>
        <p:nvSpPr>
          <p:cNvPr id="37" name="文本框 36"/>
          <p:cNvSpPr txBox="1"/>
          <p:nvPr/>
        </p:nvSpPr>
        <p:spPr>
          <a:xfrm>
            <a:off x="1086163" y="2372177"/>
            <a:ext cx="1814606" cy="923330"/>
          </a:xfrm>
          <a:prstGeom prst="rect">
            <a:avLst/>
          </a:prstGeom>
          <a:noFill/>
        </p:spPr>
        <p:txBody>
          <a:bodyPr wrap="square">
            <a:spAutoFit/>
          </a:bodyPr>
          <a:lstStyle/>
          <a:p>
            <a:pPr algn="ctr"/>
            <a:r>
              <a:rPr lang="zh-CN" altLang="en-US" b="1" dirty="0">
                <a:solidFill>
                  <a:srgbClr val="C00000"/>
                </a:solidFill>
              </a:rPr>
              <a:t>在线双选、协调、发布选题</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12</a:t>
            </a:r>
            <a:r>
              <a:rPr lang="zh-CN" altLang="en-US" b="1" dirty="0">
                <a:solidFill>
                  <a:srgbClr val="C00000"/>
                </a:solidFill>
              </a:rPr>
              <a:t>月中旬）</a:t>
            </a:r>
            <a:endParaRPr lang="zh-CN" altLang="en-US" b="1" dirty="0">
              <a:solidFill>
                <a:srgbClr val="C00000"/>
              </a:solidFill>
            </a:endParaRPr>
          </a:p>
        </p:txBody>
      </p:sp>
      <p:sp>
        <p:nvSpPr>
          <p:cNvPr id="39" name="文本框 38"/>
          <p:cNvSpPr txBox="1"/>
          <p:nvPr/>
        </p:nvSpPr>
        <p:spPr>
          <a:xfrm>
            <a:off x="3693502" y="2373687"/>
            <a:ext cx="1964267" cy="923330"/>
          </a:xfrm>
          <a:prstGeom prst="rect">
            <a:avLst/>
          </a:prstGeom>
          <a:noFill/>
        </p:spPr>
        <p:txBody>
          <a:bodyPr wrap="square">
            <a:spAutoFit/>
          </a:bodyPr>
          <a:lstStyle/>
          <a:p>
            <a:pPr algn="ctr"/>
            <a:r>
              <a:rPr lang="zh-CN" altLang="en-US" b="1" dirty="0">
                <a:solidFill>
                  <a:srgbClr val="C00000"/>
                </a:solidFill>
              </a:rPr>
              <a:t>指导教师下达任务书和翻译任务</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1</a:t>
            </a:r>
            <a:r>
              <a:rPr lang="zh-CN" altLang="en-US" b="1" dirty="0">
                <a:solidFill>
                  <a:srgbClr val="C00000"/>
                </a:solidFill>
              </a:rPr>
              <a:t>月初）</a:t>
            </a:r>
            <a:endParaRPr lang="zh-CN" altLang="en-US" b="1" dirty="0">
              <a:solidFill>
                <a:srgbClr val="C00000"/>
              </a:solidFill>
            </a:endParaRPr>
          </a:p>
        </p:txBody>
      </p:sp>
      <p:sp>
        <p:nvSpPr>
          <p:cNvPr id="41" name="文本框 40"/>
          <p:cNvSpPr txBox="1"/>
          <p:nvPr/>
        </p:nvSpPr>
        <p:spPr>
          <a:xfrm>
            <a:off x="6324872" y="2372177"/>
            <a:ext cx="2065867" cy="923330"/>
          </a:xfrm>
          <a:prstGeom prst="rect">
            <a:avLst/>
          </a:prstGeom>
          <a:noFill/>
        </p:spPr>
        <p:txBody>
          <a:bodyPr wrap="square">
            <a:spAutoFit/>
          </a:bodyPr>
          <a:lstStyle/>
          <a:p>
            <a:pPr algn="ctr"/>
            <a:r>
              <a:rPr lang="zh-CN" altLang="en-US" b="1" dirty="0">
                <a:solidFill>
                  <a:srgbClr val="C00000"/>
                </a:solidFill>
              </a:rPr>
              <a:t>学生提交开题报告及翻译译文</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3</a:t>
            </a:r>
            <a:r>
              <a:rPr lang="zh-CN" altLang="en-US" b="1" dirty="0">
                <a:solidFill>
                  <a:srgbClr val="C00000"/>
                </a:solidFill>
              </a:rPr>
              <a:t>月）</a:t>
            </a:r>
            <a:endParaRPr lang="zh-CN" altLang="en-US" b="1" dirty="0">
              <a:solidFill>
                <a:srgbClr val="C00000"/>
              </a:solidFill>
            </a:endParaRPr>
          </a:p>
        </p:txBody>
      </p:sp>
      <p:sp>
        <p:nvSpPr>
          <p:cNvPr id="43" name="文本框 42"/>
          <p:cNvSpPr txBox="1"/>
          <p:nvPr/>
        </p:nvSpPr>
        <p:spPr>
          <a:xfrm>
            <a:off x="8843810" y="2351197"/>
            <a:ext cx="2461685" cy="923330"/>
          </a:xfrm>
          <a:prstGeom prst="rect">
            <a:avLst/>
          </a:prstGeom>
          <a:noFill/>
        </p:spPr>
        <p:txBody>
          <a:bodyPr wrap="square">
            <a:spAutoFit/>
          </a:bodyPr>
          <a:lstStyle/>
          <a:p>
            <a:pPr algn="ctr"/>
            <a:r>
              <a:rPr lang="zh-CN" altLang="en-US" b="1" dirty="0">
                <a:solidFill>
                  <a:srgbClr val="C00000"/>
                </a:solidFill>
              </a:rPr>
              <a:t>学生提交中期检查表，学院中期抽查</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4</a:t>
            </a:r>
            <a:r>
              <a:rPr lang="zh-CN" altLang="en-US" b="1" dirty="0">
                <a:solidFill>
                  <a:srgbClr val="C00000"/>
                </a:solidFill>
              </a:rPr>
              <a:t>月）</a:t>
            </a:r>
            <a:endParaRPr lang="zh-CN" altLang="en-US" b="1" dirty="0">
              <a:solidFill>
                <a:srgbClr val="C00000"/>
              </a:solidFill>
            </a:endParaRPr>
          </a:p>
        </p:txBody>
      </p:sp>
      <p:sp>
        <p:nvSpPr>
          <p:cNvPr id="45" name="文本框 44"/>
          <p:cNvSpPr txBox="1"/>
          <p:nvPr/>
        </p:nvSpPr>
        <p:spPr>
          <a:xfrm>
            <a:off x="9279219" y="5188633"/>
            <a:ext cx="2218267" cy="923330"/>
          </a:xfrm>
          <a:prstGeom prst="rect">
            <a:avLst/>
          </a:prstGeom>
          <a:noFill/>
        </p:spPr>
        <p:txBody>
          <a:bodyPr wrap="square">
            <a:spAutoFit/>
          </a:bodyPr>
          <a:lstStyle/>
          <a:p>
            <a:pPr algn="ctr"/>
            <a:r>
              <a:rPr lang="zh-CN" altLang="en-US" b="1" dirty="0">
                <a:solidFill>
                  <a:srgbClr val="C00000"/>
                </a:solidFill>
              </a:rPr>
              <a:t>学生提交论文定稿并查重</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5</a:t>
            </a:r>
            <a:r>
              <a:rPr lang="zh-CN" altLang="en-US" b="1" dirty="0">
                <a:solidFill>
                  <a:srgbClr val="C00000"/>
                </a:solidFill>
              </a:rPr>
              <a:t>月底</a:t>
            </a:r>
            <a:r>
              <a:rPr lang="en-US" altLang="zh-CN" b="1" dirty="0">
                <a:solidFill>
                  <a:srgbClr val="C00000"/>
                </a:solidFill>
              </a:rPr>
              <a:t>6</a:t>
            </a:r>
            <a:r>
              <a:rPr lang="zh-CN" altLang="en-US" b="1" dirty="0">
                <a:solidFill>
                  <a:srgbClr val="C00000"/>
                </a:solidFill>
              </a:rPr>
              <a:t>月初）</a:t>
            </a:r>
            <a:endParaRPr lang="zh-CN" altLang="en-US" b="1" dirty="0">
              <a:solidFill>
                <a:srgbClr val="C00000"/>
              </a:solidFill>
            </a:endParaRPr>
          </a:p>
        </p:txBody>
      </p:sp>
      <p:sp>
        <p:nvSpPr>
          <p:cNvPr id="47" name="文本框 46"/>
          <p:cNvSpPr txBox="1"/>
          <p:nvPr/>
        </p:nvSpPr>
        <p:spPr>
          <a:xfrm>
            <a:off x="7278534" y="5178733"/>
            <a:ext cx="1684867" cy="923330"/>
          </a:xfrm>
          <a:prstGeom prst="rect">
            <a:avLst/>
          </a:prstGeom>
          <a:noFill/>
        </p:spPr>
        <p:txBody>
          <a:bodyPr wrap="square">
            <a:spAutoFit/>
          </a:bodyPr>
          <a:lstStyle/>
          <a:p>
            <a:pPr algn="ctr"/>
            <a:r>
              <a:rPr lang="zh-CN" altLang="en-US" b="1" dirty="0">
                <a:solidFill>
                  <a:srgbClr val="C00000"/>
                </a:solidFill>
              </a:rPr>
              <a:t>抽取盲审名单，送校外评审</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6</a:t>
            </a:r>
            <a:r>
              <a:rPr lang="zh-CN" altLang="en-US" b="1" dirty="0">
                <a:solidFill>
                  <a:srgbClr val="C00000"/>
                </a:solidFill>
              </a:rPr>
              <a:t>月上旬）</a:t>
            </a:r>
            <a:endParaRPr lang="zh-CN" altLang="en-US" b="1" dirty="0">
              <a:solidFill>
                <a:srgbClr val="C00000"/>
              </a:solidFill>
            </a:endParaRPr>
          </a:p>
        </p:txBody>
      </p:sp>
      <p:sp>
        <p:nvSpPr>
          <p:cNvPr id="49" name="文本框 48"/>
          <p:cNvSpPr txBox="1"/>
          <p:nvPr/>
        </p:nvSpPr>
        <p:spPr>
          <a:xfrm>
            <a:off x="5164825" y="5188633"/>
            <a:ext cx="1303867" cy="923330"/>
          </a:xfrm>
          <a:prstGeom prst="rect">
            <a:avLst/>
          </a:prstGeom>
          <a:noFill/>
        </p:spPr>
        <p:txBody>
          <a:bodyPr wrap="square">
            <a:spAutoFit/>
          </a:bodyPr>
          <a:lstStyle/>
          <a:p>
            <a:pPr algn="ctr"/>
            <a:r>
              <a:rPr lang="zh-CN" altLang="en-US" b="1" dirty="0">
                <a:solidFill>
                  <a:srgbClr val="C00000"/>
                </a:solidFill>
              </a:rPr>
              <a:t>组织答辩发布成绩</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6</a:t>
            </a:r>
            <a:r>
              <a:rPr lang="zh-CN" altLang="en-US" b="1" dirty="0">
                <a:solidFill>
                  <a:srgbClr val="C00000"/>
                </a:solidFill>
              </a:rPr>
              <a:t>月中旬）</a:t>
            </a:r>
            <a:endParaRPr lang="zh-CN" altLang="en-US" b="1" dirty="0">
              <a:solidFill>
                <a:srgbClr val="C00000"/>
              </a:solidFill>
            </a:endParaRPr>
          </a:p>
        </p:txBody>
      </p:sp>
      <p:sp>
        <p:nvSpPr>
          <p:cNvPr id="51" name="文本框 50"/>
          <p:cNvSpPr txBox="1"/>
          <p:nvPr/>
        </p:nvSpPr>
        <p:spPr>
          <a:xfrm>
            <a:off x="2755466" y="5188633"/>
            <a:ext cx="1684867" cy="923330"/>
          </a:xfrm>
          <a:prstGeom prst="rect">
            <a:avLst/>
          </a:prstGeom>
          <a:noFill/>
        </p:spPr>
        <p:txBody>
          <a:bodyPr wrap="square">
            <a:spAutoFit/>
          </a:bodyPr>
          <a:lstStyle/>
          <a:p>
            <a:pPr algn="ctr"/>
            <a:r>
              <a:rPr lang="zh-CN" altLang="en-US" b="1" dirty="0">
                <a:solidFill>
                  <a:srgbClr val="C00000"/>
                </a:solidFill>
              </a:rPr>
              <a:t>评选校优省优提交归档材料</a:t>
            </a:r>
            <a:endParaRPr lang="en-US" altLang="zh-CN" b="1" dirty="0">
              <a:solidFill>
                <a:srgbClr val="C00000"/>
              </a:solidFill>
            </a:endParaRPr>
          </a:p>
          <a:p>
            <a:pPr algn="ctr"/>
            <a:r>
              <a:rPr lang="zh-CN" altLang="en-US" b="1" dirty="0">
                <a:solidFill>
                  <a:srgbClr val="C00000"/>
                </a:solidFill>
              </a:rPr>
              <a:t>（</a:t>
            </a:r>
            <a:r>
              <a:rPr lang="en-US" altLang="zh-CN" b="1" dirty="0">
                <a:solidFill>
                  <a:srgbClr val="C00000"/>
                </a:solidFill>
              </a:rPr>
              <a:t>6</a:t>
            </a:r>
            <a:r>
              <a:rPr lang="zh-CN" altLang="en-US" b="1" dirty="0">
                <a:solidFill>
                  <a:srgbClr val="C00000"/>
                </a:solidFill>
              </a:rPr>
              <a:t>月中旬）</a:t>
            </a:r>
            <a:endParaRPr lang="zh-CN" altLang="en-US" b="1" dirty="0">
              <a:solidFill>
                <a:srgbClr val="C00000"/>
              </a:solidFill>
            </a:endParaRPr>
          </a:p>
        </p:txBody>
      </p:sp>
      <p:sp>
        <p:nvSpPr>
          <p:cNvPr id="53" name="文本框 52"/>
          <p:cNvSpPr txBox="1"/>
          <p:nvPr/>
        </p:nvSpPr>
        <p:spPr>
          <a:xfrm>
            <a:off x="625289" y="5188633"/>
            <a:ext cx="1514038" cy="646331"/>
          </a:xfrm>
          <a:prstGeom prst="rect">
            <a:avLst/>
          </a:prstGeom>
          <a:noFill/>
        </p:spPr>
        <p:txBody>
          <a:bodyPr wrap="square">
            <a:spAutoFit/>
          </a:bodyPr>
          <a:lstStyle/>
          <a:p>
            <a:pPr algn="ctr"/>
            <a:r>
              <a:rPr lang="zh-CN" altLang="en-US" b="1" dirty="0">
                <a:solidFill>
                  <a:srgbClr val="C00000"/>
                </a:solidFill>
              </a:rPr>
              <a:t>教育部抽检毕设材料</a:t>
            </a:r>
            <a:endParaRPr lang="zh-CN" altLang="en-US" b="1" dirty="0">
              <a:solidFill>
                <a:srgbClr val="C00000"/>
              </a:solidFill>
            </a:endParaRPr>
          </a:p>
        </p:txBody>
      </p:sp>
      <p:sp>
        <p:nvSpPr>
          <p:cNvPr id="54" name="箭头: 右 53"/>
          <p:cNvSpPr/>
          <p:nvPr/>
        </p:nvSpPr>
        <p:spPr bwMode="auto">
          <a:xfrm>
            <a:off x="2923442" y="1615139"/>
            <a:ext cx="792733"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5" name="箭头: 右 54"/>
          <p:cNvSpPr/>
          <p:nvPr/>
        </p:nvSpPr>
        <p:spPr bwMode="auto">
          <a:xfrm>
            <a:off x="8331207" y="1615139"/>
            <a:ext cx="792733"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6" name="箭头: 右 55"/>
          <p:cNvSpPr/>
          <p:nvPr/>
        </p:nvSpPr>
        <p:spPr bwMode="auto">
          <a:xfrm>
            <a:off x="5591672" y="1615139"/>
            <a:ext cx="792733"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7" name="箭头: 右 56"/>
          <p:cNvSpPr/>
          <p:nvPr/>
        </p:nvSpPr>
        <p:spPr bwMode="auto">
          <a:xfrm rot="10800000">
            <a:off x="8865832" y="4361997"/>
            <a:ext cx="556905"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8" name="箭头: 右 57"/>
          <p:cNvSpPr/>
          <p:nvPr/>
        </p:nvSpPr>
        <p:spPr bwMode="auto">
          <a:xfrm rot="10800000">
            <a:off x="6658331" y="4361997"/>
            <a:ext cx="556905"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9" name="箭头: 右 58"/>
          <p:cNvSpPr/>
          <p:nvPr/>
        </p:nvSpPr>
        <p:spPr bwMode="auto">
          <a:xfrm rot="10800000">
            <a:off x="4428130" y="4380939"/>
            <a:ext cx="556905"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0" name="箭头: 右 59"/>
          <p:cNvSpPr/>
          <p:nvPr/>
        </p:nvSpPr>
        <p:spPr bwMode="auto">
          <a:xfrm rot="10800000">
            <a:off x="2200943" y="4361997"/>
            <a:ext cx="556905"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2" name="箭头: 右 61"/>
          <p:cNvSpPr/>
          <p:nvPr/>
        </p:nvSpPr>
        <p:spPr bwMode="auto">
          <a:xfrm rot="5400000">
            <a:off x="9727459" y="3521397"/>
            <a:ext cx="735583" cy="332698"/>
          </a:xfrm>
          <a:prstGeom prst="rightArrow">
            <a:avLst/>
          </a:prstGeom>
          <a:solidFill>
            <a:srgbClr val="1F497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2E47D4B-FFC8-4EB0-940C-A2F17C5624E3}" type="slidenum">
              <a:rPr lang="zh-CN" altLang="en-US" smtClean="0"/>
            </a:fld>
            <a:endParaRPr lang="en-US" altLang="zh-CN" dirty="0"/>
          </a:p>
        </p:txBody>
      </p:sp>
      <p:sp>
        <p:nvSpPr>
          <p:cNvPr id="3" name="矩形 3"/>
          <p:cNvSpPr>
            <a:spLocks noChangeArrowheads="1"/>
          </p:cNvSpPr>
          <p:nvPr/>
        </p:nvSpPr>
        <p:spPr bwMode="auto">
          <a:xfrm>
            <a:off x="304800" y="314325"/>
            <a:ext cx="8388350" cy="523875"/>
          </a:xfrm>
          <a:prstGeom prst="rect">
            <a:avLst/>
          </a:prstGeom>
          <a:noFill/>
          <a:ln w="9525">
            <a:noFill/>
            <a:miter lim="800000"/>
          </a:ln>
        </p:spPr>
        <p:txBody>
          <a:bodyPr>
            <a:spAutoFit/>
          </a:bodyPr>
          <a:lstStyle/>
          <a:p>
            <a:r>
              <a:rPr lang="zh-CN" altLang="en-US" sz="2800" b="1" dirty="0"/>
              <a:t>毕设平台及相关管理规定</a:t>
            </a:r>
            <a:endParaRPr lang="en-US" altLang="zh-CN" sz="2800" b="1" dirty="0"/>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199" y="1136729"/>
            <a:ext cx="11188013" cy="5286297"/>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2E47D4B-FFC8-4EB0-940C-A2F17C5624E3}" type="slidenum">
              <a:rPr lang="zh-CN" altLang="en-US" smtClean="0"/>
            </a:fld>
            <a:endParaRPr lang="en-US" altLang="zh-CN" dirty="0"/>
          </a:p>
        </p:txBody>
      </p:sp>
      <p:sp>
        <p:nvSpPr>
          <p:cNvPr id="3" name="矩形 3"/>
          <p:cNvSpPr>
            <a:spLocks noChangeArrowheads="1"/>
          </p:cNvSpPr>
          <p:nvPr/>
        </p:nvSpPr>
        <p:spPr bwMode="auto">
          <a:xfrm>
            <a:off x="304800" y="314325"/>
            <a:ext cx="8388350" cy="521970"/>
          </a:xfrm>
          <a:prstGeom prst="rect">
            <a:avLst/>
          </a:prstGeom>
          <a:noFill/>
          <a:ln w="9525">
            <a:noFill/>
            <a:miter lim="800000"/>
          </a:ln>
        </p:spPr>
        <p:txBody>
          <a:bodyPr>
            <a:spAutoFit/>
          </a:bodyPr>
          <a:lstStyle/>
          <a:p>
            <a:r>
              <a:rPr lang="zh-CN" altLang="en-US" sz="2800" b="1" dirty="0"/>
              <a:t>毕设相关附件表格下载</a:t>
            </a:r>
            <a:endParaRPr lang="en-US" altLang="zh-CN" sz="2800" b="1" dirty="0"/>
          </a:p>
        </p:txBody>
      </p:sp>
      <p:grpSp>
        <p:nvGrpSpPr>
          <p:cNvPr id="17" name="组合 16"/>
          <p:cNvGrpSpPr/>
          <p:nvPr/>
        </p:nvGrpSpPr>
        <p:grpSpPr>
          <a:xfrm>
            <a:off x="1062355" y="2265680"/>
            <a:ext cx="9939655" cy="3270250"/>
            <a:chOff x="2768600" y="1075166"/>
            <a:chExt cx="1524000" cy="1631886"/>
          </a:xfrm>
        </p:grpSpPr>
        <p:sp>
          <p:nvSpPr>
            <p:cNvPr id="10" name="矩形 9"/>
            <p:cNvSpPr/>
            <p:nvPr/>
          </p:nvSpPr>
          <p:spPr bwMode="auto">
            <a:xfrm>
              <a:off x="2768600" y="1075166"/>
              <a:ext cx="1524000" cy="1631886"/>
            </a:xfrm>
            <a:prstGeom prst="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文本框 11"/>
            <p:cNvSpPr txBox="1"/>
            <p:nvPr/>
          </p:nvSpPr>
          <p:spPr>
            <a:xfrm>
              <a:off x="2863040" y="1282022"/>
              <a:ext cx="1247006" cy="536794"/>
            </a:xfrm>
            <a:prstGeom prst="rect">
              <a:avLst/>
            </a:prstGeom>
            <a:noFill/>
          </p:spPr>
          <p:txBody>
            <a:bodyPr wrap="square" rtlCol="0">
              <a:noAutofit/>
            </a:bodyPr>
            <a:p>
              <a:r>
                <a:rPr lang="zh-CN" altLang="en-US" sz="2400" b="1" dirty="0">
                  <a:solidFill>
                    <a:schemeClr val="bg1"/>
                  </a:solidFill>
                </a:rPr>
                <a:t>【金山文档 | WPS云文档】 毕设相关附件下载，https://365.kdocs.cn/l/cc68YkN67eYf</a:t>
              </a:r>
              <a:endParaRPr lang="zh-CN" altLang="en-US" sz="2400" b="1" dirty="0">
                <a:solidFill>
                  <a:schemeClr val="bg1"/>
                </a:solidFill>
              </a:endParaRPr>
            </a:p>
            <a:p>
              <a:endParaRPr lang="zh-CN" altLang="en-US" sz="2400" b="1" dirty="0">
                <a:solidFill>
                  <a:schemeClr val="bg1"/>
                </a:solidFill>
              </a:endParaRPr>
            </a:p>
            <a:p>
              <a:endParaRPr lang="zh-CN" altLang="en-US" sz="2400" b="1" dirty="0">
                <a:solidFill>
                  <a:schemeClr val="bg1"/>
                </a:solidFill>
              </a:endParaRPr>
            </a:p>
            <a:p>
              <a:r>
                <a:rPr lang="zh-CN" altLang="en-US" sz="2400" b="1" dirty="0">
                  <a:solidFill>
                    <a:schemeClr val="bg1"/>
                  </a:solidFill>
                  <a:sym typeface="+mn-ea"/>
                </a:rPr>
                <a:t>如此链接中没有相关附件，请至教务处官网下载，下载链接见上一页</a:t>
              </a:r>
              <a:r>
                <a:rPr lang="en-US" altLang="zh-CN" sz="2400" b="1" dirty="0">
                  <a:solidFill>
                    <a:schemeClr val="bg1"/>
                  </a:solidFill>
                  <a:sym typeface="+mn-ea"/>
                </a:rPr>
                <a:t>PPT</a:t>
              </a:r>
              <a:r>
                <a:rPr lang="zh-CN" altLang="en-US" sz="2400" b="1" dirty="0">
                  <a:solidFill>
                    <a:schemeClr val="bg1"/>
                  </a:solidFill>
                  <a:sym typeface="+mn-ea"/>
                </a:rPr>
                <a:t>，所有文件以教务处官网为准。</a:t>
              </a:r>
              <a:endParaRPr lang="zh-CN" altLang="en-US" sz="2400" b="1" dirty="0">
                <a:solidFill>
                  <a:schemeClr val="bg1"/>
                </a:solidFill>
              </a:endParaRPr>
            </a:p>
            <a:p>
              <a:endParaRPr lang="zh-CN" altLang="en-US" sz="2400" b="1" dirty="0">
                <a:solidFill>
                  <a:schemeClr val="bg1"/>
                </a:solidFill>
              </a:endParaRPr>
            </a:p>
          </p:txBody>
        </p:sp>
      </p:grpSp>
      <p:sp>
        <p:nvSpPr>
          <p:cNvPr id="6" name="文本框 5"/>
          <p:cNvSpPr txBox="1"/>
          <p:nvPr/>
        </p:nvSpPr>
        <p:spPr>
          <a:xfrm>
            <a:off x="4121150" y="1566545"/>
            <a:ext cx="1109345" cy="461645"/>
          </a:xfrm>
          <a:prstGeom prst="rect">
            <a:avLst/>
          </a:prstGeom>
          <a:noFill/>
        </p:spPr>
        <p:txBody>
          <a:bodyPr wrap="square" rtlCol="0">
            <a:spAutoFit/>
          </a:bodyPr>
          <a:lstStyle/>
          <a:p>
            <a:r>
              <a:rPr lang="zh-CN" altLang="en-US" sz="2400" b="1" dirty="0">
                <a:solidFill>
                  <a:schemeClr val="bg1"/>
                </a:solidFill>
              </a:rPr>
              <a:t>任务书</a:t>
            </a:r>
            <a:endParaRPr lang="zh-CN" altLang="en-US" sz="2400" b="1" dirty="0">
              <a:solidFill>
                <a:schemeClr val="bg1"/>
              </a:solidFil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2E47D4B-FFC8-4EB0-940C-A2F17C5624E3}" type="slidenum">
              <a:rPr lang="zh-CN" altLang="en-US" smtClean="0"/>
            </a:fld>
            <a:endParaRPr lang="en-US" altLang="zh-CN" dirty="0"/>
          </a:p>
        </p:txBody>
      </p:sp>
      <p:sp>
        <p:nvSpPr>
          <p:cNvPr id="5" name="矩形 3"/>
          <p:cNvSpPr>
            <a:spLocks noChangeArrowheads="1"/>
          </p:cNvSpPr>
          <p:nvPr/>
        </p:nvSpPr>
        <p:spPr bwMode="auto">
          <a:xfrm>
            <a:off x="304800" y="278007"/>
            <a:ext cx="8388350" cy="523875"/>
          </a:xfrm>
          <a:prstGeom prst="rect">
            <a:avLst/>
          </a:prstGeom>
          <a:noFill/>
          <a:ln w="9525">
            <a:noFill/>
            <a:miter lim="800000"/>
          </a:ln>
        </p:spPr>
        <p:txBody>
          <a:bodyPr>
            <a:spAutoFit/>
          </a:bodyPr>
          <a:lstStyle/>
          <a:p>
            <a:r>
              <a:rPr lang="zh-CN" altLang="en-US" sz="2800" b="1" dirty="0"/>
              <a:t>选题：盲选</a:t>
            </a:r>
            <a:r>
              <a:rPr lang="en-US" altLang="zh-CN" sz="2800" b="1" dirty="0"/>
              <a:t>/</a:t>
            </a:r>
            <a:r>
              <a:rPr lang="zh-CN" altLang="en-US" sz="2800" b="1" dirty="0"/>
              <a:t>指定课题</a:t>
            </a:r>
            <a:endParaRPr lang="en-US" altLang="zh-CN" sz="2800" b="1" dirty="0"/>
          </a:p>
        </p:txBody>
      </p:sp>
      <p:sp>
        <p:nvSpPr>
          <p:cNvPr id="3" name="文本框 2"/>
          <p:cNvSpPr txBox="1"/>
          <p:nvPr/>
        </p:nvSpPr>
        <p:spPr>
          <a:xfrm>
            <a:off x="794087" y="1028660"/>
            <a:ext cx="9575801" cy="645160"/>
          </a:xfrm>
          <a:prstGeom prst="rect">
            <a:avLst/>
          </a:prstGeom>
          <a:noFill/>
        </p:spPr>
        <p:txBody>
          <a:bodyPr wrap="square" rtlCol="0">
            <a:spAutoFit/>
          </a:bodyPr>
          <a:lstStyle/>
          <a:p>
            <a:pPr marL="285750" indent="-285750">
              <a:buFont typeface="Wingdings" panose="05000000000000000000" pitchFamily="2" charset="2"/>
              <a:buChar char="p"/>
            </a:pPr>
            <a:r>
              <a:rPr lang="zh-CN" altLang="en-US" b="1" dirty="0">
                <a:latin typeface="+mn-ea"/>
              </a:rPr>
              <a:t>盲选：由指导教师申报课题，专业负责人审核发布后，课题面向学生开放</a:t>
            </a:r>
            <a:endParaRPr lang="en-US" altLang="zh-CN" b="1" dirty="0">
              <a:latin typeface="+mn-ea"/>
            </a:endParaRPr>
          </a:p>
          <a:p>
            <a:r>
              <a:rPr lang="zh-CN" altLang="en-US" b="1" dirty="0">
                <a:latin typeface="+mn-ea"/>
              </a:rPr>
              <a:t>选择</a:t>
            </a:r>
            <a:r>
              <a:rPr lang="zh-CN" altLang="en-US" b="1" dirty="0">
                <a:latin typeface="+mn-ea"/>
                <a:sym typeface="+mn-ea"/>
              </a:rPr>
              <a:t>信息学院</a:t>
            </a:r>
            <a:r>
              <a:rPr lang="zh-CN" altLang="en-US" b="1" dirty="0">
                <a:latin typeface="+mn-ea"/>
              </a:rPr>
              <a:t>教师出的课题。</a:t>
            </a:r>
            <a:endParaRPr lang="en-US" altLang="zh-CN" b="1" dirty="0">
              <a:latin typeface="+mn-ea"/>
            </a:endParaRPr>
          </a:p>
        </p:txBody>
      </p:sp>
      <p:sp>
        <p:nvSpPr>
          <p:cNvPr id="8" name="内容占位符 2"/>
          <p:cNvSpPr txBox="1"/>
          <p:nvPr/>
        </p:nvSpPr>
        <p:spPr>
          <a:xfrm>
            <a:off x="794087" y="1779078"/>
            <a:ext cx="9036531" cy="810342"/>
          </a:xfrm>
          <a:prstGeom prst="rect">
            <a:avLst/>
          </a:prstGeom>
        </p:spPr>
        <p:txBody>
          <a:bodyPr/>
          <a:lstStyle>
            <a:lvl1pPr marL="342900" indent="-342900" algn="l" rtl="0" eaLnBrk="0" fontAlgn="base" hangingPunct="0">
              <a:spcBef>
                <a:spcPct val="20000"/>
              </a:spcBef>
              <a:spcAft>
                <a:spcPct val="0"/>
              </a:spcAft>
              <a:buChar char="•"/>
              <a:defRPr sz="3200">
                <a:solidFill>
                  <a:schemeClr val="tx2">
                    <a:lumMod val="75000"/>
                  </a:schemeClr>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2">
                    <a:lumMod val="75000"/>
                  </a:schemeClr>
                </a:solidFill>
                <a:latin typeface="+mn-lt"/>
                <a:ea typeface="+mn-ea"/>
              </a:defRPr>
            </a:lvl2pPr>
            <a:lvl3pPr marL="1143000" indent="-228600" algn="l" rtl="0" eaLnBrk="0" fontAlgn="base" hangingPunct="0">
              <a:spcBef>
                <a:spcPct val="20000"/>
              </a:spcBef>
              <a:spcAft>
                <a:spcPct val="0"/>
              </a:spcAft>
              <a:buChar char="•"/>
              <a:defRPr sz="2400">
                <a:solidFill>
                  <a:schemeClr val="tx2">
                    <a:lumMod val="75000"/>
                  </a:schemeClr>
                </a:solidFill>
                <a:latin typeface="+mn-lt"/>
                <a:ea typeface="+mn-ea"/>
              </a:defRPr>
            </a:lvl3pPr>
            <a:lvl4pPr marL="1600200" indent="-228600" algn="l" rtl="0" eaLnBrk="0" fontAlgn="base" hangingPunct="0">
              <a:spcBef>
                <a:spcPct val="20000"/>
              </a:spcBef>
              <a:spcAft>
                <a:spcPct val="0"/>
              </a:spcAft>
              <a:buChar char="–"/>
              <a:defRPr sz="2000">
                <a:solidFill>
                  <a:schemeClr val="tx2">
                    <a:lumMod val="75000"/>
                  </a:schemeClr>
                </a:solidFill>
                <a:latin typeface="+mn-lt"/>
                <a:ea typeface="+mn-ea"/>
              </a:defRPr>
            </a:lvl4pPr>
            <a:lvl5pPr marL="2057400" indent="-228600" algn="l" rtl="0" eaLnBrk="0" fontAlgn="base" hangingPunct="0">
              <a:spcBef>
                <a:spcPct val="20000"/>
              </a:spcBef>
              <a:spcAft>
                <a:spcPct val="0"/>
              </a:spcAft>
              <a:buChar char="»"/>
              <a:defRPr sz="2000">
                <a:solidFill>
                  <a:schemeClr val="tx2">
                    <a:lumMod val="75000"/>
                  </a:schemeClr>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spcBef>
                <a:spcPts val="0"/>
              </a:spcBef>
            </a:pPr>
            <a:r>
              <a:rPr lang="zh-CN" altLang="en-US" sz="1800" b="1" kern="0" dirty="0">
                <a:solidFill>
                  <a:schemeClr val="tx1"/>
                </a:solidFill>
                <a:latin typeface="+mn-ea"/>
              </a:rPr>
              <a:t>时间：</a:t>
            </a:r>
            <a:r>
              <a:rPr lang="en-US" altLang="zh-CN" sz="1800" b="1" kern="0" dirty="0">
                <a:solidFill>
                  <a:schemeClr val="tx1"/>
                </a:solidFill>
                <a:latin typeface="+mn-ea"/>
              </a:rPr>
              <a:t>12</a:t>
            </a:r>
            <a:r>
              <a:rPr lang="zh-CN" altLang="en-US" sz="1800" b="1" kern="0" dirty="0">
                <a:solidFill>
                  <a:schemeClr val="tx1"/>
                </a:solidFill>
                <a:latin typeface="+mn-ea"/>
              </a:rPr>
              <a:t>月</a:t>
            </a:r>
            <a:r>
              <a:rPr lang="en-US" altLang="zh-CN" sz="1800" b="1" kern="0" dirty="0">
                <a:solidFill>
                  <a:schemeClr val="tx1"/>
                </a:solidFill>
                <a:latin typeface="+mn-ea"/>
              </a:rPr>
              <a:t>17</a:t>
            </a:r>
            <a:r>
              <a:rPr lang="zh-CN" altLang="en-US" sz="1800" b="1" kern="0" dirty="0">
                <a:solidFill>
                  <a:schemeClr val="tx1"/>
                </a:solidFill>
                <a:latin typeface="+mn-ea"/>
              </a:rPr>
              <a:t>日前完成。</a:t>
            </a:r>
            <a:endParaRPr lang="en-US" altLang="zh-CN" sz="1800" b="1" kern="0" dirty="0">
              <a:solidFill>
                <a:schemeClr val="tx1"/>
              </a:solidFill>
              <a:latin typeface="+mn-ea"/>
            </a:endParaRPr>
          </a:p>
          <a:p>
            <a:pPr eaLnBrk="1" hangingPunct="1">
              <a:spcBef>
                <a:spcPts val="0"/>
              </a:spcBef>
            </a:pPr>
            <a:r>
              <a:rPr lang="zh-CN" altLang="en-US" sz="1800" b="1" kern="0" dirty="0">
                <a:solidFill>
                  <a:schemeClr val="tx1"/>
                </a:solidFill>
                <a:latin typeface="+mn-ea"/>
              </a:rPr>
              <a:t>流程：学生在系统中进行“学生选题”，可以选择三个志愿，等待相应老师确认。</a:t>
            </a:r>
            <a:endParaRPr lang="en-US" altLang="zh-CN" sz="1800" b="1" kern="0" dirty="0">
              <a:solidFill>
                <a:schemeClr val="tx1"/>
              </a:solidFill>
              <a:latin typeface="+mn-ea"/>
            </a:endParaRPr>
          </a:p>
        </p:txBody>
      </p:sp>
      <p:pic>
        <p:nvPicPr>
          <p:cNvPr id="9" name="图片 8"/>
          <p:cNvPicPr>
            <a:picLocks noChangeAspect="1"/>
          </p:cNvPicPr>
          <p:nvPr/>
        </p:nvPicPr>
        <p:blipFill rotWithShape="1">
          <a:blip r:embed="rId1"/>
          <a:srcRect t="73021"/>
          <a:stretch>
            <a:fillRect/>
          </a:stretch>
        </p:blipFill>
        <p:spPr>
          <a:xfrm>
            <a:off x="86871" y="2548102"/>
            <a:ext cx="10945195" cy="1550633"/>
          </a:xfrm>
          <a:prstGeom prst="rect">
            <a:avLst/>
          </a:prstGeom>
        </p:spPr>
      </p:pic>
      <p:pic>
        <p:nvPicPr>
          <p:cNvPr id="10" name="图片 9"/>
          <p:cNvPicPr>
            <a:picLocks noChangeAspect="1"/>
          </p:cNvPicPr>
          <p:nvPr/>
        </p:nvPicPr>
        <p:blipFill>
          <a:blip r:embed="rId2"/>
          <a:stretch>
            <a:fillRect/>
          </a:stretch>
        </p:blipFill>
        <p:spPr>
          <a:xfrm>
            <a:off x="794087" y="3992699"/>
            <a:ext cx="10000592" cy="2128698"/>
          </a:xfrm>
          <a:prstGeom prst="rect">
            <a:avLst/>
          </a:prstGeom>
        </p:spPr>
      </p:pic>
      <p:sp>
        <p:nvSpPr>
          <p:cNvPr id="11" name="文本框 10"/>
          <p:cNvSpPr txBox="1"/>
          <p:nvPr/>
        </p:nvSpPr>
        <p:spPr>
          <a:xfrm>
            <a:off x="3339140" y="6082368"/>
            <a:ext cx="3383394" cy="461665"/>
          </a:xfrm>
          <a:prstGeom prst="rect">
            <a:avLst/>
          </a:prstGeom>
          <a:noFill/>
        </p:spPr>
        <p:txBody>
          <a:bodyPr wrap="square" rtlCol="0">
            <a:spAutoFit/>
          </a:bodyPr>
          <a:lstStyle/>
          <a:p>
            <a:r>
              <a:rPr lang="zh-CN" altLang="en-US" sz="2400" b="1" dirty="0">
                <a:solidFill>
                  <a:srgbClr val="C00000"/>
                </a:solidFill>
                <a:latin typeface="+mn-ea"/>
              </a:rPr>
              <a:t>三个志愿没有先后顺序！</a:t>
            </a:r>
            <a:endParaRPr lang="zh-CN" altLang="en-US" sz="2400" b="1" dirty="0">
              <a:solidFill>
                <a:srgbClr val="C00000"/>
              </a:solidFill>
              <a:latin typeface="+mn-ea"/>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2E47D4B-FFC8-4EB0-940C-A2F17C5624E3}" type="slidenum">
              <a:rPr lang="zh-CN" altLang="en-US" smtClean="0"/>
            </a:fld>
            <a:endParaRPr lang="en-US" altLang="zh-CN" dirty="0"/>
          </a:p>
        </p:txBody>
      </p:sp>
      <p:sp>
        <p:nvSpPr>
          <p:cNvPr id="5" name="矩形 3"/>
          <p:cNvSpPr>
            <a:spLocks noChangeArrowheads="1"/>
          </p:cNvSpPr>
          <p:nvPr/>
        </p:nvSpPr>
        <p:spPr bwMode="auto">
          <a:xfrm>
            <a:off x="304800" y="278007"/>
            <a:ext cx="8388350" cy="523220"/>
          </a:xfrm>
          <a:prstGeom prst="rect">
            <a:avLst/>
          </a:prstGeom>
          <a:noFill/>
          <a:ln w="9525">
            <a:noFill/>
            <a:miter lim="800000"/>
          </a:ln>
        </p:spPr>
        <p:txBody>
          <a:bodyPr>
            <a:spAutoFit/>
          </a:bodyPr>
          <a:lstStyle/>
          <a:p>
            <a:r>
              <a:rPr lang="zh-CN" altLang="en-US" sz="2800" b="1" dirty="0"/>
              <a:t>选题：盲选</a:t>
            </a:r>
            <a:r>
              <a:rPr lang="en-US" altLang="zh-CN" sz="2800" b="1" dirty="0"/>
              <a:t>/</a:t>
            </a:r>
            <a:r>
              <a:rPr lang="zh-CN" altLang="en-US" sz="2800" b="1" dirty="0"/>
              <a:t>指定课题</a:t>
            </a:r>
            <a:endParaRPr lang="en-US" altLang="zh-CN" sz="2800" b="1" dirty="0"/>
          </a:p>
        </p:txBody>
      </p:sp>
      <p:sp>
        <p:nvSpPr>
          <p:cNvPr id="7" name="文本框 6"/>
          <p:cNvSpPr txBox="1"/>
          <p:nvPr/>
        </p:nvSpPr>
        <p:spPr>
          <a:xfrm>
            <a:off x="948265" y="1107702"/>
            <a:ext cx="9736667" cy="922020"/>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b="1" dirty="0">
                <a:latin typeface="+mn-ea"/>
              </a:rPr>
              <a:t>指定课题：学生和指导老师协商好，教师申报课题时指定学生，课题点对点让学生来做。</a:t>
            </a:r>
            <a:endParaRPr lang="en-US" altLang="zh-CN" b="1" dirty="0">
              <a:latin typeface="+mn-ea"/>
            </a:endParaRPr>
          </a:p>
          <a:p>
            <a:pPr marL="285750" indent="-285750">
              <a:lnSpc>
                <a:spcPct val="150000"/>
              </a:lnSpc>
              <a:buFont typeface="Wingdings" panose="05000000000000000000" pitchFamily="2" charset="2"/>
              <a:buChar char="l"/>
            </a:pPr>
            <a:r>
              <a:rPr lang="zh-CN" altLang="en-US" b="1" dirty="0">
                <a:latin typeface="+mn-ea"/>
              </a:rPr>
              <a:t>时间：</a:t>
            </a:r>
            <a:r>
              <a:rPr lang="en-US" altLang="zh-CN" b="1" dirty="0">
                <a:latin typeface="+mn-ea"/>
              </a:rPr>
              <a:t>12</a:t>
            </a:r>
            <a:r>
              <a:rPr lang="zh-CN" altLang="en-US" b="1" dirty="0">
                <a:latin typeface="+mn-ea"/>
              </a:rPr>
              <a:t>月</a:t>
            </a:r>
            <a:r>
              <a:rPr lang="en-US" altLang="zh-CN" b="1" dirty="0">
                <a:latin typeface="+mn-ea"/>
              </a:rPr>
              <a:t>17</a:t>
            </a:r>
            <a:r>
              <a:rPr lang="zh-CN" altLang="en-US" b="1" dirty="0">
                <a:latin typeface="+mn-ea"/>
              </a:rPr>
              <a:t>日前</a:t>
            </a:r>
            <a:endParaRPr lang="zh-CN" altLang="en-US" b="1" dirty="0">
              <a:latin typeface="+mn-ea"/>
            </a:endParaRPr>
          </a:p>
        </p:txBody>
      </p:sp>
      <p:sp>
        <p:nvSpPr>
          <p:cNvPr id="4" name="文本框 3"/>
          <p:cNvSpPr txBox="1"/>
          <p:nvPr/>
        </p:nvSpPr>
        <p:spPr>
          <a:xfrm>
            <a:off x="922866" y="2186234"/>
            <a:ext cx="10346268" cy="3744595"/>
          </a:xfrm>
          <a:prstGeom prst="rect">
            <a:avLst/>
          </a:prstGeom>
          <a:noFill/>
        </p:spPr>
        <p:txBody>
          <a:bodyPr wrap="square" rtlCol="0">
            <a:spAutoFit/>
          </a:bodyPr>
          <a:lstStyle/>
          <a:p>
            <a:pPr>
              <a:lnSpc>
                <a:spcPct val="120000"/>
              </a:lnSpc>
            </a:pPr>
            <a:r>
              <a:rPr lang="en-US" altLang="zh-CN" b="1" dirty="0">
                <a:latin typeface="+mn-ea"/>
              </a:rPr>
              <a:t>1</a:t>
            </a:r>
            <a:r>
              <a:rPr lang="zh-CN" altLang="en-US" b="1" dirty="0">
                <a:latin typeface="+mn-ea"/>
              </a:rPr>
              <a:t>、</a:t>
            </a:r>
            <a:r>
              <a:rPr lang="zh-CN" altLang="en-US" sz="1800" b="1" dirty="0">
                <a:solidFill>
                  <a:schemeClr val="tx2">
                    <a:lumMod val="60000"/>
                    <a:lumOff val="40000"/>
                  </a:schemeClr>
                </a:solidFill>
                <a:latin typeface="+mn-ea"/>
              </a:rPr>
              <a:t>留校免研生或其他已经跟导师联系好的学生</a:t>
            </a:r>
            <a:r>
              <a:rPr lang="zh-CN" altLang="en-US" b="1" dirty="0">
                <a:latin typeface="+mn-ea"/>
              </a:rPr>
              <a:t>，在</a:t>
            </a:r>
            <a:r>
              <a:rPr lang="zh-CN" altLang="en-US" sz="1800" b="1" dirty="0">
                <a:latin typeface="+mn-ea"/>
              </a:rPr>
              <a:t>导师所在的学科组做毕设，可以指定课题。</a:t>
            </a:r>
            <a:endParaRPr lang="zh-CN" altLang="en-US" sz="1800" b="1" dirty="0">
              <a:latin typeface="+mn-ea"/>
            </a:endParaRPr>
          </a:p>
          <a:p>
            <a:pPr>
              <a:lnSpc>
                <a:spcPct val="120000"/>
              </a:lnSpc>
            </a:pPr>
            <a:r>
              <a:rPr lang="en-US" altLang="zh-CN" sz="1800" b="1" dirty="0">
                <a:latin typeface="+mn-ea"/>
              </a:rPr>
              <a:t>2</a:t>
            </a:r>
            <a:r>
              <a:rPr lang="zh-CN" altLang="en-US" sz="1800" b="1" dirty="0">
                <a:latin typeface="+mn-ea"/>
              </a:rPr>
              <a:t>、在本校</a:t>
            </a:r>
            <a:r>
              <a:rPr lang="zh-CN" altLang="en-US" sz="1800" b="1" dirty="0">
                <a:solidFill>
                  <a:schemeClr val="tx2">
                    <a:lumMod val="60000"/>
                    <a:lumOff val="40000"/>
                  </a:schemeClr>
                </a:solidFill>
                <a:latin typeface="+mn-ea"/>
              </a:rPr>
              <a:t>其他学院</a:t>
            </a:r>
            <a:r>
              <a:rPr lang="zh-CN" altLang="en-US" sz="1800" b="1" dirty="0">
                <a:latin typeface="+mn-ea"/>
              </a:rPr>
              <a:t>做毕设，需向学院申请，并找一位信息学院研究方向相近的教师做院内指导教师，请其他学院导师申报课题时指定学生，将院内</a:t>
            </a:r>
            <a:r>
              <a:rPr lang="zh-CN" altLang="en-US" b="1" dirty="0">
                <a:latin typeface="+mn-ea"/>
                <a:sym typeface="+mn-ea"/>
              </a:rPr>
              <a:t>指导</a:t>
            </a:r>
            <a:r>
              <a:rPr lang="zh-CN" altLang="en-US" sz="1800" b="1" dirty="0">
                <a:latin typeface="+mn-ea"/>
              </a:rPr>
              <a:t>教师添加为第二指导老师。</a:t>
            </a:r>
            <a:endParaRPr lang="zh-CN" altLang="en-US" sz="1800" b="1" dirty="0">
              <a:latin typeface="+mn-ea"/>
            </a:endParaRPr>
          </a:p>
          <a:p>
            <a:pPr>
              <a:lnSpc>
                <a:spcPct val="120000"/>
              </a:lnSpc>
            </a:pPr>
            <a:r>
              <a:rPr lang="en-US" altLang="zh-CN" sz="1800" b="1" dirty="0">
                <a:latin typeface="+mn-ea"/>
              </a:rPr>
              <a:t>3</a:t>
            </a:r>
            <a:r>
              <a:rPr lang="zh-CN" altLang="en-US" sz="1800" b="1" dirty="0">
                <a:latin typeface="+mn-ea"/>
              </a:rPr>
              <a:t>、</a:t>
            </a:r>
            <a:r>
              <a:rPr lang="zh-CN" altLang="en-US" sz="1800" b="1" dirty="0">
                <a:solidFill>
                  <a:schemeClr val="tx2">
                    <a:lumMod val="60000"/>
                    <a:lumOff val="40000"/>
                  </a:schemeClr>
                </a:solidFill>
                <a:latin typeface="+mn-ea"/>
              </a:rPr>
              <a:t>推荐到外校的免研生</a:t>
            </a:r>
            <a:r>
              <a:rPr lang="zh-CN" altLang="en-US" sz="1800" b="1" dirty="0">
                <a:latin typeface="+mn-ea"/>
              </a:rPr>
              <a:t>，若导师要求，可</a:t>
            </a:r>
            <a:r>
              <a:rPr lang="zh-CN" altLang="en-US" b="1" dirty="0">
                <a:latin typeface="+mn-ea"/>
              </a:rPr>
              <a:t>跟读研所在学校导师</a:t>
            </a:r>
            <a:r>
              <a:rPr lang="zh-CN" altLang="en-US" sz="1800" b="1" dirty="0">
                <a:latin typeface="+mn-ea"/>
              </a:rPr>
              <a:t>做毕设，但需选择一位信息学院研究方向相近的教师做</a:t>
            </a:r>
            <a:r>
              <a:rPr lang="zh-CN" altLang="en-US" b="1" dirty="0">
                <a:latin typeface="+mn-ea"/>
                <a:sym typeface="+mn-ea"/>
              </a:rPr>
              <a:t>院内指导</a:t>
            </a:r>
            <a:r>
              <a:rPr lang="zh-CN" altLang="en-US" sz="1800" b="1" dirty="0">
                <a:latin typeface="+mn-ea"/>
              </a:rPr>
              <a:t>教师，由</a:t>
            </a:r>
            <a:r>
              <a:rPr lang="zh-CN" altLang="en-US" b="1" dirty="0">
                <a:latin typeface="+mn-ea"/>
                <a:sym typeface="+mn-ea"/>
              </a:rPr>
              <a:t>院内指导</a:t>
            </a:r>
            <a:r>
              <a:rPr lang="zh-CN" altLang="en-US" sz="1800" b="1" dirty="0">
                <a:latin typeface="+mn-ea"/>
              </a:rPr>
              <a:t>教师提交课题。</a:t>
            </a:r>
            <a:endParaRPr lang="en-US" altLang="zh-CN" sz="1800" b="1" dirty="0">
              <a:latin typeface="+mn-ea"/>
            </a:endParaRPr>
          </a:p>
          <a:p>
            <a:pPr>
              <a:lnSpc>
                <a:spcPct val="120000"/>
              </a:lnSpc>
            </a:pPr>
            <a:r>
              <a:rPr lang="en-US" altLang="zh-CN" sz="1800" b="1" dirty="0">
                <a:latin typeface="+mn-ea"/>
              </a:rPr>
              <a:t>4</a:t>
            </a:r>
            <a:r>
              <a:rPr lang="zh-CN" altLang="en-US" sz="1800" b="1" dirty="0">
                <a:latin typeface="+mn-ea"/>
              </a:rPr>
              <a:t>、</a:t>
            </a:r>
            <a:r>
              <a:rPr lang="zh-CN" altLang="en-US" sz="1800" b="1" dirty="0">
                <a:solidFill>
                  <a:schemeClr val="tx2">
                    <a:lumMod val="60000"/>
                    <a:lumOff val="40000"/>
                  </a:schemeClr>
                </a:solidFill>
                <a:latin typeface="+mn-ea"/>
              </a:rPr>
              <a:t>出国（境）交流学生</a:t>
            </a:r>
            <a:r>
              <a:rPr lang="zh-CN" altLang="en-US" sz="1800" b="1" dirty="0">
                <a:latin typeface="+mn-ea"/>
              </a:rPr>
              <a:t>，课题及指导教师可源自校内或外方高校。若源自外方高校，必须配有研究方向相近的院内指导老师，由院内指导老师提交课题，并在毕设系统完成全过程材料提交（不可直接用外方课程成绩直接替代毕业设计）。</a:t>
            </a:r>
            <a:endParaRPr lang="en-US" altLang="zh-CN" sz="1800" b="1" dirty="0">
              <a:latin typeface="+mn-ea"/>
            </a:endParaRPr>
          </a:p>
          <a:p>
            <a:pPr>
              <a:lnSpc>
                <a:spcPct val="120000"/>
              </a:lnSpc>
            </a:pPr>
            <a:endParaRPr lang="en-US" altLang="zh-CN" sz="1800" b="1" dirty="0">
              <a:solidFill>
                <a:srgbClr val="C00000"/>
              </a:solidFill>
              <a:latin typeface="+mn-ea"/>
            </a:endParaRPr>
          </a:p>
          <a:p>
            <a:pPr>
              <a:lnSpc>
                <a:spcPct val="120000"/>
              </a:lnSpc>
            </a:pPr>
            <a:r>
              <a:rPr lang="zh-CN" altLang="en-US" sz="1800" b="1" dirty="0">
                <a:solidFill>
                  <a:srgbClr val="C00000"/>
                </a:solidFill>
                <a:latin typeface="+mn-ea"/>
              </a:rPr>
              <a:t>所有不在本院做毕设的同学必须选择一位信息学院</a:t>
            </a:r>
            <a:r>
              <a:rPr lang="zh-CN" altLang="en-US" b="1" dirty="0">
                <a:solidFill>
                  <a:srgbClr val="C00000"/>
                </a:solidFill>
                <a:latin typeface="+mn-ea"/>
              </a:rPr>
              <a:t>研究方向相近的教师</a:t>
            </a:r>
            <a:r>
              <a:rPr lang="zh-CN" altLang="en-US" sz="1800" b="1" dirty="0">
                <a:solidFill>
                  <a:srgbClr val="C00000"/>
                </a:solidFill>
                <a:latin typeface="+mn-ea"/>
              </a:rPr>
              <a:t>做</a:t>
            </a:r>
            <a:r>
              <a:rPr lang="zh-CN" altLang="en-US" b="1" dirty="0">
                <a:solidFill>
                  <a:srgbClr val="FF0000"/>
                </a:solidFill>
                <a:latin typeface="+mn-ea"/>
                <a:sym typeface="+mn-ea"/>
              </a:rPr>
              <a:t>院内指导</a:t>
            </a:r>
            <a:r>
              <a:rPr lang="zh-CN" altLang="en-US" sz="1800" b="1" dirty="0">
                <a:solidFill>
                  <a:srgbClr val="C00000"/>
                </a:solidFill>
                <a:latin typeface="+mn-ea"/>
              </a:rPr>
              <a:t>老师</a:t>
            </a:r>
            <a:r>
              <a:rPr lang="en-US" altLang="zh-CN" sz="1800" b="1" dirty="0">
                <a:solidFill>
                  <a:srgbClr val="C00000"/>
                </a:solidFill>
                <a:latin typeface="+mn-ea"/>
              </a:rPr>
              <a:t>!</a:t>
            </a:r>
            <a:endParaRPr lang="en-US" altLang="zh-CN" sz="1800" b="1" dirty="0">
              <a:solidFill>
                <a:srgbClr val="C00000"/>
              </a:solidFill>
              <a:latin typeface="+mn-ea"/>
            </a:endParaRPr>
          </a:p>
          <a:p>
            <a:pPr>
              <a:lnSpc>
                <a:spcPct val="120000"/>
              </a:lnSpc>
            </a:pPr>
            <a:r>
              <a:rPr lang="zh-CN" altLang="en-US" b="1" dirty="0">
                <a:latin typeface="+mn-ea"/>
              </a:rPr>
              <a:t>按照东南大学毕设节点进行，开题、中期检查、答辩等所有环节要回到信息学院指导老师学科组参加</a:t>
            </a:r>
            <a:endParaRPr lang="zh-CN" altLang="en-US" b="1" dirty="0">
              <a:latin typeface="+mn-ea"/>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6741" y="321393"/>
            <a:ext cx="5262979" cy="707886"/>
          </a:xfrm>
          <a:prstGeom prst="rect">
            <a:avLst/>
          </a:prstGeom>
        </p:spPr>
        <p:txBody>
          <a:bodyPr wrap="none">
            <a:spAutoFit/>
          </a:bodyPr>
          <a:lstStyle/>
          <a:p>
            <a:pPr eaLnBrk="0" hangingPunct="0">
              <a:buClr>
                <a:schemeClr val="accent2"/>
              </a:buClr>
              <a:buSzPct val="110000"/>
            </a:pPr>
            <a:r>
              <a:rPr lang="en-US" altLang="zh-CN"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3.</a:t>
            </a:r>
            <a:r>
              <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毕业设计各阶段安排</a:t>
            </a:r>
            <a:endPar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a:xfrm>
            <a:off x="306070" y="942340"/>
            <a:ext cx="5854700" cy="1881505"/>
          </a:xfrm>
          <a:prstGeom prst="rect">
            <a:avLst/>
          </a:prstGeom>
        </p:spPr>
        <p:txBody>
          <a:bodyPr wrap="square">
            <a:noAutofit/>
          </a:bodyPr>
          <a:lstStyle/>
          <a:p>
            <a:pPr marL="457200" lvl="2" indent="-457200">
              <a:lnSpc>
                <a:spcPts val="4000"/>
              </a:lnSpc>
              <a:spcBef>
                <a:spcPts val="1200"/>
              </a:spcBef>
              <a:buClr>
                <a:srgbClr val="ED7D31"/>
              </a:buClr>
              <a:buFont typeface="Wingdings" panose="05000000000000000000" pitchFamily="2" charset="2"/>
              <a:buChar char="u"/>
            </a:pPr>
            <a:r>
              <a:rPr lang="zh-CN" altLang="en-US" sz="24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选题阶段提交材料：</a:t>
            </a:r>
            <a:r>
              <a:rPr lang="en-US" altLang="zh-CN" sz="2400" dirty="0"/>
              <a:t> </a:t>
            </a:r>
            <a:endParaRPr lang="en-US" altLang="zh-CN" sz="2400" dirty="0"/>
          </a:p>
          <a:p>
            <a:pPr marL="0" lvl="2">
              <a:lnSpc>
                <a:spcPts val="4000"/>
              </a:lnSpc>
              <a:spcBef>
                <a:spcPts val="1200"/>
              </a:spcBef>
              <a:buClr>
                <a:srgbClr val="ED7D31"/>
              </a:buClr>
            </a:pPr>
            <a:r>
              <a:rPr lang="en-US" altLang="zh-CN" sz="28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所有学生需提交</a:t>
            </a:r>
            <a:r>
              <a:rPr lang="en-US"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毕业设计双选表</a:t>
            </a:r>
            <a:r>
              <a:rPr lang="en-US"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，与导师当面交流确认后，指导老师手签，不允许电子签和随心签！</a:t>
            </a:r>
            <a:endParaRPr lang="en-US"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lvl="2">
              <a:lnSpc>
                <a:spcPts val="4000"/>
              </a:lnSpc>
              <a:spcBef>
                <a:spcPts val="1200"/>
              </a:spcBef>
              <a:buClr>
                <a:srgbClr val="ED7D31"/>
              </a:buClr>
            </a:pPr>
            <a:r>
              <a:rPr lang="en-US" altLang="zh-CN"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6731000" y="1661541"/>
            <a:ext cx="5329690" cy="2190728"/>
          </a:xfrm>
          <a:prstGeom prst="rect">
            <a:avLst/>
          </a:prstGeom>
          <a:solidFill>
            <a:schemeClr val="accent1">
              <a:lumMod val="40000"/>
              <a:lumOff val="60000"/>
            </a:schemeClr>
          </a:solidFill>
          <a:ln w="34925">
            <a:solidFill>
              <a:schemeClr val="accent1">
                <a:lumMod val="40000"/>
                <a:lumOff val="60000"/>
              </a:schemeClr>
            </a:solidFill>
          </a:ln>
        </p:spPr>
        <p:txBody>
          <a:bodyPr wrap="square">
            <a:spAutoFit/>
          </a:bodyPr>
          <a:lstStyle/>
          <a:p>
            <a:pPr>
              <a:lnSpc>
                <a:spcPct val="80000"/>
              </a:lnSpc>
              <a:defRPr/>
            </a:pPr>
            <a:r>
              <a:rPr lang="zh-CN" altLang="en-US" sz="2800" b="1" dirty="0">
                <a:solidFill>
                  <a:schemeClr val="accent2">
                    <a:lumMod val="75000"/>
                  </a:schemeClr>
                </a:solidFill>
                <a:latin typeface="宋体" panose="02010600030101010101" pitchFamily="2" charset="-122"/>
                <a:ea typeface="宋体" panose="02010600030101010101" pitchFamily="2" charset="-122"/>
              </a:rPr>
              <a:t>选择本校外学院指导老师还需提交</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a:lnSpc>
                <a:spcPct val="80000"/>
              </a:lnSpc>
              <a:defRPr/>
            </a:pPr>
            <a:endParaRPr lang="en-US" altLang="zh-CN" sz="2400" dirty="0">
              <a:latin typeface="宋体" panose="02010600030101010101" pitchFamily="2" charset="-122"/>
              <a:ea typeface="宋体" panose="02010600030101010101" pitchFamily="2" charset="-122"/>
            </a:endParaRPr>
          </a:p>
          <a:p>
            <a:pPr>
              <a:lnSpc>
                <a:spcPct val="80000"/>
              </a:lnSpc>
              <a:defRPr/>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外出毕业设计信息表</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高校版</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（外学院导师填写，签名（加盖公章））</a:t>
            </a: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a:lnSpc>
                <a:spcPct val="80000"/>
              </a:lnSpc>
              <a:defRPr/>
            </a:pPr>
            <a:endParaRPr lang="zh-CN" altLang="en-US" dirty="0"/>
          </a:p>
        </p:txBody>
      </p:sp>
      <p:sp>
        <p:nvSpPr>
          <p:cNvPr id="6" name="矩形 5"/>
          <p:cNvSpPr/>
          <p:nvPr/>
        </p:nvSpPr>
        <p:spPr>
          <a:xfrm>
            <a:off x="6730728" y="4144632"/>
            <a:ext cx="5106572" cy="2089162"/>
          </a:xfrm>
          <a:prstGeom prst="rect">
            <a:avLst/>
          </a:prstGeom>
          <a:solidFill>
            <a:schemeClr val="accent1">
              <a:lumMod val="40000"/>
              <a:lumOff val="60000"/>
            </a:schemeClr>
          </a:solidFill>
        </p:spPr>
        <p:txBody>
          <a:bodyPr wrap="square">
            <a:spAutoFit/>
          </a:bodyPr>
          <a:lstStyle/>
          <a:p>
            <a:pPr marL="0" lvl="2">
              <a:lnSpc>
                <a:spcPts val="4000"/>
              </a:lnSpc>
              <a:spcBef>
                <a:spcPts val="1200"/>
              </a:spcBef>
              <a:buClr>
                <a:srgbClr val="ED7D31"/>
              </a:buClr>
            </a:pPr>
            <a:r>
              <a:rPr lang="zh-CN" altLang="en-US" sz="2800" b="1" kern="100" dirty="0">
                <a:solidFill>
                  <a:schemeClr val="accent2">
                    <a:lumMod val="75000"/>
                  </a:schemeClr>
                </a:solidFill>
                <a:latin typeface="宋体" panose="02010600030101010101" pitchFamily="2" charset="-122"/>
                <a:ea typeface="宋体" panose="02010600030101010101" pitchFamily="2" charset="-122"/>
                <a:cs typeface="Times New Roman" panose="02020603050405020304" pitchFamily="18" charset="0"/>
              </a:rPr>
              <a:t>出国（境）交流学生</a:t>
            </a:r>
            <a:r>
              <a:rPr lang="zh-CN" altLang="en-US" sz="24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必需配有校内指导老师，并在毕设系统完成全过程材料提交</a:t>
            </a:r>
            <a:r>
              <a:rPr lang="zh-CN" altLang="en-US" sz="240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（不可直接用外方课程成绩直接替代毕业设计）</a:t>
            </a:r>
            <a:endParaRPr lang="en-US" altLang="zh-CN" sz="240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206741" y="2824028"/>
            <a:ext cx="6053382" cy="3041015"/>
          </a:xfrm>
          <a:prstGeom prst="rect">
            <a:avLst/>
          </a:prstGeom>
          <a:ln w="28575">
            <a:solidFill>
              <a:schemeClr val="accent1">
                <a:lumMod val="40000"/>
                <a:lumOff val="60000"/>
              </a:schemeClr>
            </a:solidFill>
          </a:ln>
        </p:spPr>
        <p:txBody>
          <a:bodyPr wrap="square">
            <a:spAutoFit/>
          </a:bodyPr>
          <a:lstStyle/>
          <a:p>
            <a:pPr>
              <a:lnSpc>
                <a:spcPct val="80000"/>
              </a:lnSpc>
              <a:defRPr/>
            </a:pPr>
            <a:r>
              <a:rPr lang="en-US" altLang="zh-CN" sz="2400" b="1" i="1" dirty="0">
                <a:solidFill>
                  <a:schemeClr val="tx2"/>
                </a:solidFill>
                <a:latin typeface="微软雅黑" panose="020B0503020204020204" pitchFamily="34" charset="-122"/>
                <a:ea typeface="微软雅黑" panose="020B0503020204020204" pitchFamily="34" charset="-122"/>
              </a:rPr>
              <a:t>2025</a:t>
            </a:r>
            <a:r>
              <a:rPr lang="zh-CN" altLang="en-US" sz="2400" b="1" i="1" dirty="0">
                <a:solidFill>
                  <a:schemeClr val="tx2"/>
                </a:solidFill>
                <a:latin typeface="微软雅黑" panose="020B0503020204020204" pitchFamily="34" charset="-122"/>
                <a:ea typeface="微软雅黑" panose="020B0503020204020204" pitchFamily="34" charset="-122"/>
              </a:rPr>
              <a:t>年</a:t>
            </a:r>
            <a:r>
              <a:rPr lang="en-US" altLang="zh-CN" sz="2400" b="1" i="1" dirty="0">
                <a:solidFill>
                  <a:schemeClr val="tx2"/>
                </a:solidFill>
                <a:latin typeface="微软雅黑" panose="020B0503020204020204" pitchFamily="34" charset="-122"/>
                <a:ea typeface="微软雅黑" panose="020B0503020204020204" pitchFamily="34" charset="-122"/>
              </a:rPr>
              <a:t>12</a:t>
            </a:r>
            <a:r>
              <a:rPr lang="zh-CN" altLang="en-US" sz="2400" b="1" i="1" dirty="0">
                <a:solidFill>
                  <a:schemeClr val="tx2"/>
                </a:solidFill>
                <a:latin typeface="微软雅黑" panose="020B0503020204020204" pitchFamily="34" charset="-122"/>
                <a:ea typeface="微软雅黑" panose="020B0503020204020204" pitchFamily="34" charset="-122"/>
              </a:rPr>
              <a:t>月</a:t>
            </a:r>
            <a:r>
              <a:rPr lang="en-US" altLang="zh-CN" sz="2400" b="1" i="1" dirty="0">
                <a:solidFill>
                  <a:schemeClr val="tx2"/>
                </a:solidFill>
                <a:latin typeface="微软雅黑" panose="020B0503020204020204" pitchFamily="34" charset="-122"/>
                <a:ea typeface="微软雅黑" panose="020B0503020204020204" pitchFamily="34" charset="-122"/>
              </a:rPr>
              <a:t>22</a:t>
            </a:r>
            <a:r>
              <a:rPr lang="zh-CN" altLang="en-US" sz="2400" b="1" i="1" dirty="0">
                <a:solidFill>
                  <a:schemeClr val="tx2"/>
                </a:solidFill>
                <a:latin typeface="微软雅黑" panose="020B0503020204020204" pitchFamily="34" charset="-122"/>
                <a:ea typeface="微软雅黑" panose="020B0503020204020204" pitchFamily="34" charset="-122"/>
              </a:rPr>
              <a:t>日前</a:t>
            </a:r>
            <a:r>
              <a:rPr lang="zh-CN" altLang="en-US"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80000"/>
              </a:lnSpc>
              <a:defRPr/>
            </a:pPr>
            <a:r>
              <a:rPr lang="zh-CN" altLang="en-US"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80000"/>
              </a:lnSpc>
              <a:defRPr/>
            </a:pPr>
            <a:r>
              <a:rPr lang="en-US" altLang="zh-CN" sz="2400" dirty="0">
                <a:latin typeface="微软雅黑" panose="020B0503020204020204" pitchFamily="34" charset="-122"/>
                <a:ea typeface="微软雅黑" panose="020B0503020204020204" pitchFamily="34" charset="-122"/>
              </a:rPr>
              <a:t>       1</a:t>
            </a:r>
            <a:r>
              <a:rPr lang="zh-CN" altLang="en-US" sz="2400" dirty="0">
                <a:latin typeface="微软雅黑" panose="020B0503020204020204" pitchFamily="34" charset="-122"/>
                <a:ea typeface="微软雅黑" panose="020B0503020204020204" pitchFamily="34" charset="-122"/>
              </a:rPr>
              <a:t>、 班长收齐各班学生的相关表（分类按学号排序）</a:t>
            </a:r>
            <a:endParaRPr lang="en-US" altLang="zh-CN" sz="2400" dirty="0">
              <a:latin typeface="微软雅黑" panose="020B0503020204020204" pitchFamily="34" charset="-122"/>
              <a:ea typeface="微软雅黑" panose="020B0503020204020204" pitchFamily="34" charset="-122"/>
            </a:endParaRPr>
          </a:p>
          <a:p>
            <a:pPr>
              <a:lnSpc>
                <a:spcPct val="80000"/>
              </a:lnSpc>
              <a:defRPr/>
            </a:pPr>
            <a:endParaRPr lang="en-US" altLang="zh-CN" sz="2400" dirty="0">
              <a:latin typeface="微软雅黑" panose="020B0503020204020204" pitchFamily="34" charset="-122"/>
              <a:ea typeface="微软雅黑" panose="020B0503020204020204" pitchFamily="34" charset="-122"/>
            </a:endParaRPr>
          </a:p>
          <a:p>
            <a:pPr>
              <a:lnSpc>
                <a:spcPct val="80000"/>
              </a:lnSpc>
              <a:defRPr/>
            </a:pPr>
            <a:r>
              <a:rPr lang="en-US" altLang="zh-CN" sz="2400" dirty="0">
                <a:latin typeface="微软雅黑" panose="020B0503020204020204" pitchFamily="34" charset="-122"/>
                <a:ea typeface="微软雅黑" panose="020B0503020204020204" pitchFamily="34" charset="-122"/>
              </a:rPr>
              <a:t>       2</a:t>
            </a:r>
            <a:r>
              <a:rPr lang="zh-CN" altLang="en-US" sz="2400" dirty="0">
                <a:latin typeface="微软雅黑" panose="020B0503020204020204" pitchFamily="34" charset="-122"/>
                <a:ea typeface="微软雅黑" panose="020B0503020204020204" pitchFamily="34" charset="-122"/>
              </a:rPr>
              <a:t>、汇总信息填入</a:t>
            </a:r>
            <a:r>
              <a:rPr lang="en-US" altLang="zh-CN" sz="2400" dirty="0">
                <a:latin typeface="微软雅黑" panose="020B0503020204020204" pitchFamily="34" charset="-122"/>
                <a:ea typeface="微软雅黑" panose="020B0503020204020204" pitchFamily="34" charset="-122"/>
                <a:hlinkClick r:id="rId1" action="ppaction://hlinkfile"/>
              </a:rPr>
              <a:t>《</a:t>
            </a:r>
            <a:r>
              <a:rPr lang="zh-CN" altLang="en-US" sz="2400" dirty="0">
                <a:latin typeface="微软雅黑" panose="020B0503020204020204" pitchFamily="34" charset="-122"/>
                <a:ea typeface="微软雅黑" panose="020B0503020204020204" pitchFamily="34" charset="-122"/>
                <a:hlinkClick r:id="rId1" action="ppaction://hlinkfile"/>
              </a:rPr>
              <a:t>毕业设计（论文）选题情况表</a:t>
            </a:r>
            <a:r>
              <a:rPr lang="en-US" altLang="zh-CN" sz="2400" dirty="0">
                <a:latin typeface="微软雅黑" panose="020B0503020204020204" pitchFamily="34" charset="-122"/>
                <a:ea typeface="微软雅黑" panose="020B0503020204020204" pitchFamily="34" charset="-122"/>
                <a:hlinkClick r:id="rId1" action="ppaction://hlinkfile"/>
              </a:rPr>
              <a:t>》</a:t>
            </a:r>
            <a:r>
              <a:rPr lang="zh-CN" altLang="en-US" sz="2400" dirty="0">
                <a:latin typeface="微软雅黑" panose="020B0503020204020204" pitchFamily="34" charset="-122"/>
                <a:ea typeface="微软雅黑" panose="020B0503020204020204" pitchFamily="34" charset="-122"/>
              </a:rPr>
              <a:t>发到链接。</a:t>
            </a:r>
            <a:endParaRPr lang="en-US" altLang="zh-CN" sz="2400" dirty="0">
              <a:latin typeface="微软雅黑" panose="020B0503020204020204" pitchFamily="34" charset="-122"/>
              <a:ea typeface="微软雅黑" panose="020B0503020204020204" pitchFamily="34" charset="-122"/>
            </a:endParaRPr>
          </a:p>
          <a:p>
            <a:pPr>
              <a:lnSpc>
                <a:spcPct val="80000"/>
              </a:lnSpc>
              <a:defRPr/>
            </a:pPr>
            <a:endParaRPr lang="en-US" altLang="zh-CN" sz="2400" dirty="0">
              <a:latin typeface="微软雅黑" panose="020B0503020204020204" pitchFamily="34" charset="-122"/>
              <a:ea typeface="微软雅黑" panose="020B0503020204020204" pitchFamily="34" charset="-122"/>
            </a:endParaRPr>
          </a:p>
          <a:p>
            <a:pPr>
              <a:lnSpc>
                <a:spcPct val="80000"/>
              </a:lnSpc>
              <a:defRPr/>
            </a:pPr>
            <a:r>
              <a:rPr lang="zh-CN" sz="2400" b="1" i="1" dirty="0">
                <a:solidFill>
                  <a:schemeClr val="tx2"/>
                </a:solidFill>
                <a:latin typeface="微软雅黑" panose="020B0503020204020204" pitchFamily="34" charset="-122"/>
                <a:ea typeface="微软雅黑" panose="020B0503020204020204" pitchFamily="34" charset="-122"/>
              </a:rPr>
              <a:t>具体时间地点另行通知班长</a:t>
            </a:r>
            <a:r>
              <a:rPr lang="en-US" altLang="zh-CN" sz="2400" b="1" i="1" dirty="0">
                <a:solidFill>
                  <a:schemeClr val="tx2"/>
                </a:solidFill>
                <a:latin typeface="微软雅黑" panose="020B0503020204020204" pitchFamily="34" charset="-122"/>
                <a:ea typeface="微软雅黑" panose="020B0503020204020204" pitchFamily="34" charset="-122"/>
              </a:rPr>
              <a:t>         </a:t>
            </a:r>
            <a:r>
              <a:rPr lang="zh-CN" altLang="en-US" sz="2400" b="1" dirty="0">
                <a:solidFill>
                  <a:schemeClr val="tx2"/>
                </a:solidFill>
                <a:latin typeface="微软雅黑" panose="020B0503020204020204" pitchFamily="34" charset="-122"/>
                <a:ea typeface="微软雅黑" panose="020B0503020204020204" pitchFamily="34" charset="-122"/>
              </a:rPr>
              <a:t>班长上交</a:t>
            </a:r>
            <a:r>
              <a:rPr lang="zh-CN" altLang="en-US" sz="2400" b="1" dirty="0">
                <a:latin typeface="微软雅黑" panose="020B0503020204020204" pitchFamily="34" charset="-122"/>
                <a:ea typeface="微软雅黑" panose="020B0503020204020204" pitchFamily="34" charset="-122"/>
              </a:rPr>
              <a:t>纸质材料！！</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2E47D4B-FFC8-4EB0-940C-A2F17C5624E3}" type="slidenum">
              <a:rPr lang="zh-CN" altLang="en-US" smtClean="0"/>
            </a:fld>
            <a:endParaRPr lang="en-US" altLang="zh-CN" dirty="0"/>
          </a:p>
        </p:txBody>
      </p:sp>
      <p:sp>
        <p:nvSpPr>
          <p:cNvPr id="3" name="Text Box 2"/>
          <p:cNvSpPr txBox="1">
            <a:spLocks noChangeArrowheads="1"/>
          </p:cNvSpPr>
          <p:nvPr/>
        </p:nvSpPr>
        <p:spPr bwMode="auto">
          <a:xfrm>
            <a:off x="320612" y="311014"/>
            <a:ext cx="11116212" cy="523220"/>
          </a:xfrm>
          <a:prstGeom prst="rect">
            <a:avLst/>
          </a:prstGeom>
          <a:noFill/>
          <a:ln w="9525">
            <a:noFill/>
            <a:miter lim="800000"/>
          </a:ln>
        </p:spPr>
        <p:txBody>
          <a:bodyPr wrap="square">
            <a:spAutoFit/>
          </a:bodyPr>
          <a:lstStyle/>
          <a:p>
            <a:pPr>
              <a:spcBef>
                <a:spcPct val="50000"/>
              </a:spcBef>
            </a:pPr>
            <a:r>
              <a:rPr lang="zh-CN" altLang="en-US" sz="2800" b="1" dirty="0"/>
              <a:t>国内校外毕业设计要求：	</a:t>
            </a:r>
            <a:endParaRPr lang="zh-CN" altLang="en-US" sz="2800" b="1" dirty="0">
              <a:latin typeface="华文楷体" panose="02010600040101010101" pitchFamily="2" charset="-122"/>
              <a:ea typeface="华文楷体" panose="02010600040101010101" pitchFamily="2" charset="-122"/>
            </a:endParaRPr>
          </a:p>
        </p:txBody>
      </p:sp>
      <p:sp>
        <p:nvSpPr>
          <p:cNvPr id="5" name="文本框 4"/>
          <p:cNvSpPr txBox="1"/>
          <p:nvPr/>
        </p:nvSpPr>
        <p:spPr>
          <a:xfrm>
            <a:off x="758952" y="1261872"/>
            <a:ext cx="10762488" cy="1726178"/>
          </a:xfrm>
          <a:prstGeom prst="rect">
            <a:avLst/>
          </a:prstGeom>
          <a:noFill/>
        </p:spPr>
        <p:txBody>
          <a:bodyPr wrap="square">
            <a:spAutoFit/>
          </a:bodyPr>
          <a:lstStyle/>
          <a:p>
            <a:pPr>
              <a:lnSpc>
                <a:spcPct val="120000"/>
              </a:lnSpc>
            </a:pPr>
            <a:r>
              <a:rPr lang="zh-CN" altLang="en-US" b="1" i="0" dirty="0">
                <a:effectLst/>
                <a:latin typeface="+mn-ea"/>
              </a:rPr>
              <a:t>学生在校外进行毕业设计（论文），除校外指导老师外，还需指定一名校内指导教师共同指导，有关要求按照</a:t>
            </a:r>
            <a:r>
              <a:rPr lang="en-US" altLang="zh-CN" b="1" i="0" dirty="0">
                <a:effectLst/>
                <a:latin typeface="+mn-ea"/>
              </a:rPr>
              <a:t>《</a:t>
            </a:r>
            <a:r>
              <a:rPr lang="zh-CN" altLang="en-US" b="1" i="0" dirty="0">
                <a:effectLst/>
                <a:latin typeface="+mn-ea"/>
              </a:rPr>
              <a:t>关于学生在校外进行毕业设计（论文）的管理规定</a:t>
            </a:r>
            <a:r>
              <a:rPr lang="en-US" altLang="zh-CN" b="1" i="0" dirty="0">
                <a:effectLst/>
                <a:latin typeface="+mn-ea"/>
              </a:rPr>
              <a:t>》</a:t>
            </a:r>
            <a:r>
              <a:rPr lang="zh-CN" altLang="en-US" b="1" i="0" dirty="0">
                <a:effectLst/>
                <a:latin typeface="+mn-ea"/>
              </a:rPr>
              <a:t>执行。学生需在选题前提交书面申请，填写</a:t>
            </a:r>
            <a:r>
              <a:rPr lang="en-US" altLang="zh-CN" b="1" i="0" dirty="0">
                <a:effectLst/>
                <a:latin typeface="+mn-ea"/>
              </a:rPr>
              <a:t>《</a:t>
            </a:r>
            <a:r>
              <a:rPr lang="zh-CN" altLang="en-US" b="1" i="0" dirty="0">
                <a:effectLst/>
                <a:latin typeface="+mn-ea"/>
              </a:rPr>
              <a:t>东南大学本科生校外毕业设计（论文）情况登记表</a:t>
            </a:r>
            <a:r>
              <a:rPr lang="en-US" altLang="zh-CN" b="1" i="0" dirty="0">
                <a:effectLst/>
                <a:latin typeface="+mn-ea"/>
              </a:rPr>
              <a:t>》</a:t>
            </a:r>
            <a:r>
              <a:rPr lang="zh-CN" altLang="en-US" b="1" i="0" dirty="0">
                <a:effectLst/>
                <a:latin typeface="+mn-ea"/>
              </a:rPr>
              <a:t>，并附上对方单位的接收函，经学院审核通过后，报教务处备案。具体要求见</a:t>
            </a:r>
            <a:r>
              <a:rPr lang="en-US" altLang="zh-CN" b="1" i="0" u="sng" dirty="0">
                <a:solidFill>
                  <a:srgbClr val="0000FF"/>
                </a:solidFill>
                <a:effectLst/>
                <a:latin typeface="+mn-ea"/>
                <a:hlinkClick r:id="rId1"/>
              </a:rPr>
              <a:t>《</a:t>
            </a:r>
            <a:r>
              <a:rPr lang="zh-CN" altLang="en-US" b="1" i="0" u="sng" dirty="0">
                <a:solidFill>
                  <a:srgbClr val="0000FF"/>
                </a:solidFill>
                <a:effectLst/>
                <a:latin typeface="+mn-ea"/>
                <a:hlinkClick r:id="rId1"/>
              </a:rPr>
              <a:t>学生在校外进行毕业设计（论文）的管理规定</a:t>
            </a:r>
            <a:r>
              <a:rPr lang="en-US" altLang="zh-CN" b="1" i="0" u="sng" dirty="0">
                <a:effectLst/>
                <a:latin typeface="+mn-ea"/>
                <a:hlinkClick r:id="rId1"/>
              </a:rPr>
              <a:t>》</a:t>
            </a:r>
            <a:r>
              <a:rPr lang="en-US" altLang="zh-CN" b="1" i="0" u="sng" dirty="0">
                <a:effectLst/>
                <a:latin typeface="+mn-ea"/>
              </a:rPr>
              <a:t>https://jwc.seu.edu.cn/2019/0325/c21686a266674/page.htm</a:t>
            </a:r>
            <a:endParaRPr lang="zh-CN" altLang="en-US" b="1" dirty="0">
              <a:latin typeface="+mn-ea"/>
            </a:endParaRPr>
          </a:p>
        </p:txBody>
      </p:sp>
      <p:sp>
        <p:nvSpPr>
          <p:cNvPr id="6" name="文本框 5"/>
          <p:cNvSpPr txBox="1"/>
          <p:nvPr/>
        </p:nvSpPr>
        <p:spPr>
          <a:xfrm>
            <a:off x="1318260" y="3182112"/>
            <a:ext cx="9555480" cy="2416175"/>
          </a:xfrm>
          <a:prstGeom prst="rect">
            <a:avLst/>
          </a:prstGeom>
          <a:noFill/>
        </p:spPr>
        <p:txBody>
          <a:bodyPr wrap="square" rtlCol="0">
            <a:spAutoFit/>
          </a:bodyPr>
          <a:lstStyle/>
          <a:p>
            <a:pPr>
              <a:lnSpc>
                <a:spcPct val="120000"/>
              </a:lnSpc>
            </a:pPr>
            <a:r>
              <a:rPr lang="zh-CN" altLang="en-US" b="1" dirty="0">
                <a:latin typeface="+mn-ea"/>
              </a:rPr>
              <a:t>需提交的材料：</a:t>
            </a:r>
            <a:endParaRPr lang="en-US" altLang="zh-CN" b="1" dirty="0">
              <a:latin typeface="+mn-ea"/>
            </a:endParaRPr>
          </a:p>
          <a:p>
            <a:pPr>
              <a:lnSpc>
                <a:spcPct val="120000"/>
              </a:lnSpc>
            </a:pPr>
            <a:r>
              <a:rPr lang="en-US" altLang="zh-CN" b="1" dirty="0">
                <a:latin typeface="+mn-ea"/>
              </a:rPr>
              <a:t>1</a:t>
            </a:r>
            <a:r>
              <a:rPr lang="zh-CN" altLang="en-US" b="1" dirty="0">
                <a:latin typeface="+mn-ea"/>
              </a:rPr>
              <a:t>、东南大学本科生校外毕业设计</a:t>
            </a:r>
            <a:r>
              <a:rPr lang="en-US" altLang="zh-CN" b="1" dirty="0">
                <a:latin typeface="+mn-ea"/>
              </a:rPr>
              <a:t>(</a:t>
            </a:r>
            <a:r>
              <a:rPr lang="zh-CN" altLang="en-US" b="1" dirty="0">
                <a:latin typeface="+mn-ea"/>
              </a:rPr>
              <a:t>论文</a:t>
            </a:r>
            <a:r>
              <a:rPr lang="en-US" altLang="zh-CN" b="1" dirty="0">
                <a:latin typeface="+mn-ea"/>
              </a:rPr>
              <a:t>)</a:t>
            </a:r>
            <a:r>
              <a:rPr lang="zh-CN" altLang="en-US" b="1" dirty="0">
                <a:latin typeface="+mn-ea"/>
              </a:rPr>
              <a:t>情况登记表（教务处网站下载，</a:t>
            </a:r>
            <a:r>
              <a:rPr lang="en-US" altLang="zh-CN" b="1" dirty="0">
                <a:latin typeface="+mn-ea"/>
              </a:rPr>
              <a:t>12</a:t>
            </a:r>
            <a:r>
              <a:rPr lang="zh-CN" altLang="en-US" b="1" dirty="0">
                <a:latin typeface="+mn-ea"/>
              </a:rPr>
              <a:t>月</a:t>
            </a:r>
            <a:r>
              <a:rPr lang="en-US" altLang="zh-CN" b="1" dirty="0">
                <a:latin typeface="+mn-ea"/>
              </a:rPr>
              <a:t>22</a:t>
            </a:r>
            <a:r>
              <a:rPr lang="zh-CN" altLang="en-US" b="1" dirty="0">
                <a:latin typeface="+mn-ea"/>
              </a:rPr>
              <a:t>日前提交）</a:t>
            </a:r>
            <a:endParaRPr lang="en-US" altLang="zh-CN" b="1" dirty="0">
              <a:latin typeface="+mn-ea"/>
            </a:endParaRPr>
          </a:p>
          <a:p>
            <a:pPr>
              <a:lnSpc>
                <a:spcPct val="120000"/>
              </a:lnSpc>
            </a:pPr>
            <a:r>
              <a:rPr lang="en-US" altLang="zh-CN" b="1" dirty="0">
                <a:latin typeface="+mn-ea"/>
              </a:rPr>
              <a:t>2</a:t>
            </a:r>
            <a:r>
              <a:rPr lang="zh-CN" altLang="en-US" b="1" dirty="0">
                <a:latin typeface="+mn-ea"/>
              </a:rPr>
              <a:t>、接收函（教务处网站下载，</a:t>
            </a:r>
            <a:r>
              <a:rPr lang="en-US" altLang="zh-CN" b="1" dirty="0">
                <a:latin typeface="+mn-ea"/>
              </a:rPr>
              <a:t>12</a:t>
            </a:r>
            <a:r>
              <a:rPr lang="zh-CN" altLang="en-US" b="1" dirty="0">
                <a:latin typeface="+mn-ea"/>
              </a:rPr>
              <a:t>月</a:t>
            </a:r>
            <a:r>
              <a:rPr lang="en-US" altLang="zh-CN" b="1" dirty="0">
                <a:latin typeface="+mn-ea"/>
              </a:rPr>
              <a:t>22</a:t>
            </a:r>
            <a:r>
              <a:rPr lang="zh-CN" altLang="en-US" b="1" dirty="0">
                <a:latin typeface="+mn-ea"/>
              </a:rPr>
              <a:t>日前提交）</a:t>
            </a:r>
            <a:endParaRPr lang="en-US" altLang="zh-CN" b="0" i="0" u="none" strike="noStrike" dirty="0">
              <a:solidFill>
                <a:srgbClr val="666666"/>
              </a:solidFill>
              <a:effectLst/>
              <a:latin typeface="Microsoft YaHei UI" panose="020B0503020204020204" pitchFamily="34" charset="-122"/>
              <a:ea typeface="Microsoft YaHei UI" panose="020B0503020204020204" pitchFamily="34" charset="-122"/>
            </a:endParaRPr>
          </a:p>
          <a:p>
            <a:pPr>
              <a:lnSpc>
                <a:spcPct val="120000"/>
              </a:lnSpc>
            </a:pPr>
            <a:r>
              <a:rPr lang="en-US" altLang="zh-CN" b="1" dirty="0">
                <a:latin typeface="+mn-ea"/>
              </a:rPr>
              <a:t>3</a:t>
            </a:r>
            <a:r>
              <a:rPr lang="zh-CN" altLang="en-US" b="1" dirty="0">
                <a:latin typeface="+mn-ea"/>
              </a:rPr>
              <a:t>、东南大学校外毕业设计告家长书（https://365.kdocs.cn/l/cc68YkN67eYf</a:t>
            </a:r>
            <a:endParaRPr lang="zh-CN" altLang="en-US" b="1" dirty="0">
              <a:latin typeface="+mn-ea"/>
            </a:endParaRPr>
          </a:p>
          <a:p>
            <a:pPr>
              <a:lnSpc>
                <a:spcPct val="120000"/>
              </a:lnSpc>
            </a:pPr>
            <a:r>
              <a:rPr lang="zh-CN" altLang="en-US" b="1" dirty="0">
                <a:latin typeface="+mn-ea"/>
              </a:rPr>
              <a:t>获取，</a:t>
            </a:r>
            <a:r>
              <a:rPr lang="en-US" altLang="zh-CN" b="1" dirty="0">
                <a:latin typeface="+mn-ea"/>
                <a:sym typeface="+mn-ea"/>
              </a:rPr>
              <a:t>12</a:t>
            </a:r>
            <a:r>
              <a:rPr lang="zh-CN" altLang="en-US" b="1" dirty="0">
                <a:latin typeface="+mn-ea"/>
                <a:sym typeface="+mn-ea"/>
              </a:rPr>
              <a:t>月</a:t>
            </a:r>
            <a:r>
              <a:rPr lang="en-US" altLang="zh-CN" b="1" dirty="0">
                <a:latin typeface="+mn-ea"/>
                <a:sym typeface="+mn-ea"/>
              </a:rPr>
              <a:t>22</a:t>
            </a:r>
            <a:r>
              <a:rPr lang="zh-CN" altLang="en-US" b="1" dirty="0">
                <a:latin typeface="+mn-ea"/>
                <a:sym typeface="+mn-ea"/>
              </a:rPr>
              <a:t>日前提交</a:t>
            </a:r>
            <a:r>
              <a:rPr lang="zh-CN" altLang="en-US" b="1" dirty="0">
                <a:latin typeface="+mn-ea"/>
              </a:rPr>
              <a:t>）</a:t>
            </a:r>
            <a:endParaRPr lang="zh-CN" altLang="en-US" b="1" dirty="0">
              <a:latin typeface="+mn-ea"/>
            </a:endParaRPr>
          </a:p>
          <a:p>
            <a:pPr>
              <a:lnSpc>
                <a:spcPct val="120000"/>
              </a:lnSpc>
            </a:pPr>
            <a:r>
              <a:rPr lang="en-US" altLang="zh-CN" b="1" dirty="0">
                <a:latin typeface="+mn-ea"/>
              </a:rPr>
              <a:t>4</a:t>
            </a:r>
            <a:r>
              <a:rPr lang="zh-CN" altLang="en-US" b="1" dirty="0">
                <a:latin typeface="+mn-ea"/>
              </a:rPr>
              <a:t>、毕业设计（论文）工作日志（教务处网站下载，答辩前提交）</a:t>
            </a:r>
            <a:endParaRPr lang="en-US" altLang="zh-CN" b="1" dirty="0">
              <a:latin typeface="+mn-ea"/>
            </a:endParaRPr>
          </a:p>
          <a:p>
            <a:pPr>
              <a:lnSpc>
                <a:spcPct val="120000"/>
              </a:lnSpc>
            </a:pPr>
            <a:r>
              <a:rPr lang="en-US" altLang="zh-CN" b="1" dirty="0">
                <a:latin typeface="+mn-ea"/>
              </a:rPr>
              <a:t>5</a:t>
            </a:r>
            <a:r>
              <a:rPr lang="zh-CN" altLang="en-US" b="1" dirty="0">
                <a:latin typeface="+mn-ea"/>
              </a:rPr>
              <a:t>、本科生校外做毕业设计</a:t>
            </a:r>
            <a:r>
              <a:rPr lang="en-US" altLang="zh-CN" b="1" dirty="0">
                <a:latin typeface="+mn-ea"/>
              </a:rPr>
              <a:t>(</a:t>
            </a:r>
            <a:r>
              <a:rPr lang="zh-CN" altLang="en-US" b="1" dirty="0">
                <a:latin typeface="+mn-ea"/>
              </a:rPr>
              <a:t>论文</a:t>
            </a:r>
            <a:r>
              <a:rPr lang="en-US" altLang="zh-CN" b="1" dirty="0">
                <a:latin typeface="+mn-ea"/>
              </a:rPr>
              <a:t>)</a:t>
            </a:r>
            <a:r>
              <a:rPr lang="zh-CN" altLang="en-US" b="1" dirty="0">
                <a:latin typeface="+mn-ea"/>
              </a:rPr>
              <a:t>鉴定表（教务处网站下载，答辩前提交）</a:t>
            </a:r>
            <a:endParaRPr lang="en-US" altLang="zh-CN" b="1" dirty="0">
              <a:latin typeface="+mn-ea"/>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6" name="内容占位符 2"/>
          <p:cNvSpPr>
            <a:spLocks noGrp="1"/>
          </p:cNvSpPr>
          <p:nvPr>
            <p:ph sz="half" idx="1"/>
          </p:nvPr>
        </p:nvSpPr>
        <p:spPr>
          <a:xfrm>
            <a:off x="445557" y="1153736"/>
            <a:ext cx="11300885" cy="1052514"/>
          </a:xfrm>
        </p:spPr>
        <p:txBody>
          <a:bodyPr/>
          <a:lstStyle/>
          <a:p>
            <a:pPr eaLnBrk="1" hangingPunct="1">
              <a:spcBef>
                <a:spcPct val="50000"/>
              </a:spcBef>
            </a:pPr>
            <a:r>
              <a:rPr lang="zh-CN" altLang="en-US" sz="1800" b="1" dirty="0">
                <a:solidFill>
                  <a:schemeClr val="tx1"/>
                </a:solidFill>
                <a:latin typeface="+mn-ea"/>
              </a:rPr>
              <a:t>时间：选题双选发布后，指导老师下达任务书。</a:t>
            </a:r>
            <a:r>
              <a:rPr lang="en-US" altLang="zh-CN" sz="1800" b="1" dirty="0">
                <a:solidFill>
                  <a:schemeClr val="tx1"/>
                </a:solidFill>
                <a:latin typeface="+mn-ea"/>
              </a:rPr>
              <a:t>1</a:t>
            </a:r>
            <a:r>
              <a:rPr lang="zh-CN" altLang="en-US" sz="1800" b="1" dirty="0">
                <a:solidFill>
                  <a:schemeClr val="tx1"/>
                </a:solidFill>
                <a:latin typeface="+mn-ea"/>
              </a:rPr>
              <a:t>月初。</a:t>
            </a:r>
            <a:endParaRPr lang="zh-CN" altLang="en-US" sz="1800" b="1" dirty="0">
              <a:solidFill>
                <a:schemeClr val="tx1"/>
              </a:solidFill>
              <a:latin typeface="+mn-ea"/>
            </a:endParaRPr>
          </a:p>
          <a:p>
            <a:pPr eaLnBrk="1" hangingPunct="1">
              <a:spcBef>
                <a:spcPct val="50000"/>
              </a:spcBef>
            </a:pPr>
            <a:r>
              <a:rPr lang="zh-CN" altLang="en-US" sz="1800" b="1" dirty="0">
                <a:solidFill>
                  <a:schemeClr val="tx1"/>
                </a:solidFill>
                <a:latin typeface="+mn-ea"/>
              </a:rPr>
              <a:t>流程：学生在系统中（流程管理</a:t>
            </a:r>
            <a:r>
              <a:rPr lang="en-US" altLang="zh-CN" sz="1800" b="1" dirty="0">
                <a:solidFill>
                  <a:schemeClr val="tx1"/>
                </a:solidFill>
                <a:latin typeface="+mn-ea"/>
              </a:rPr>
              <a:t>—</a:t>
            </a:r>
            <a:r>
              <a:rPr lang="zh-CN" altLang="en-US" sz="1800" b="1" dirty="0">
                <a:solidFill>
                  <a:schemeClr val="tx1"/>
                </a:solidFill>
                <a:latin typeface="+mn-ea"/>
              </a:rPr>
              <a:t>查看任务书）查看任务书内容；（流程管理</a:t>
            </a:r>
            <a:r>
              <a:rPr lang="en-US" altLang="zh-CN" sz="1800" b="1" dirty="0">
                <a:solidFill>
                  <a:schemeClr val="tx1"/>
                </a:solidFill>
                <a:latin typeface="+mn-ea"/>
              </a:rPr>
              <a:t>—</a:t>
            </a:r>
            <a:r>
              <a:rPr lang="zh-CN" altLang="en-US" sz="1800" b="1" dirty="0">
                <a:solidFill>
                  <a:schemeClr val="tx1"/>
                </a:solidFill>
                <a:latin typeface="+mn-ea"/>
              </a:rPr>
              <a:t>外文翻译）下载翻译原文。</a:t>
            </a:r>
            <a:endParaRPr lang="en-US" altLang="zh-CN" sz="1800" b="1" dirty="0">
              <a:solidFill>
                <a:schemeClr val="tx1"/>
              </a:solidFill>
              <a:latin typeface="+mn-ea"/>
            </a:endParaRPr>
          </a:p>
          <a:p>
            <a:pPr marL="0" indent="0" eaLnBrk="1" hangingPunct="1">
              <a:spcBef>
                <a:spcPct val="50000"/>
              </a:spcBef>
              <a:buNone/>
            </a:pPr>
            <a:r>
              <a:rPr lang="zh-CN" altLang="en-US" sz="1800" b="1" dirty="0">
                <a:solidFill>
                  <a:schemeClr val="tx1"/>
                </a:solidFill>
                <a:latin typeface="+mn-ea"/>
              </a:rPr>
              <a:t>     按指导老师要求开展毕设工作，将老师下发的英文文献原文翻译成中文。</a:t>
            </a:r>
            <a:endParaRPr lang="en-US" altLang="zh-CN" sz="1800" b="1" dirty="0">
              <a:solidFill>
                <a:schemeClr val="tx1"/>
              </a:solidFill>
              <a:latin typeface="+mn-ea"/>
            </a:endParaRPr>
          </a:p>
        </p:txBody>
      </p:sp>
      <p:pic>
        <p:nvPicPr>
          <p:cNvPr id="3" name="图片 2"/>
          <p:cNvPicPr>
            <a:picLocks noChangeAspect="1"/>
          </p:cNvPicPr>
          <p:nvPr/>
        </p:nvPicPr>
        <p:blipFill>
          <a:blip r:embed="rId1"/>
          <a:stretch>
            <a:fillRect/>
          </a:stretch>
        </p:blipFill>
        <p:spPr>
          <a:xfrm>
            <a:off x="2104774" y="2441246"/>
            <a:ext cx="7340365" cy="1852403"/>
          </a:xfrm>
          <a:prstGeom prst="rect">
            <a:avLst/>
          </a:prstGeom>
        </p:spPr>
      </p:pic>
      <p:sp>
        <p:nvSpPr>
          <p:cNvPr id="7" name="标题 1"/>
          <p:cNvSpPr txBox="1"/>
          <p:nvPr/>
        </p:nvSpPr>
        <p:spPr bwMode="auto">
          <a:xfrm>
            <a:off x="0" y="0"/>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a:lstStyle>
          <a:p>
            <a:r>
              <a:rPr lang="zh-CN" altLang="en-US" sz="2800" kern="0" dirty="0">
                <a:solidFill>
                  <a:schemeClr val="tx1"/>
                </a:solidFill>
                <a:latin typeface="+mn-ea"/>
                <a:ea typeface="+mn-ea"/>
              </a:rPr>
              <a:t>任务书</a:t>
            </a:r>
            <a:endParaRPr lang="zh-CN" altLang="en-US" sz="2800" kern="0" dirty="0">
              <a:solidFill>
                <a:schemeClr val="tx1"/>
              </a:solidFill>
              <a:latin typeface="+mn-ea"/>
              <a:ea typeface="+mn-ea"/>
            </a:endParaRPr>
          </a:p>
        </p:txBody>
      </p:sp>
      <p:pic>
        <p:nvPicPr>
          <p:cNvPr id="8" name="图片 7"/>
          <p:cNvPicPr>
            <a:picLocks noChangeAspect="1"/>
          </p:cNvPicPr>
          <p:nvPr/>
        </p:nvPicPr>
        <p:blipFill>
          <a:blip r:embed="rId2"/>
          <a:stretch>
            <a:fillRect/>
          </a:stretch>
        </p:blipFill>
        <p:spPr>
          <a:xfrm>
            <a:off x="3197660" y="4352915"/>
            <a:ext cx="5476734" cy="2072278"/>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060331" y="1137179"/>
            <a:ext cx="9641536" cy="2867893"/>
          </a:xfrm>
        </p:spPr>
        <p:txBody>
          <a:bodyPr/>
          <a:lstStyle/>
          <a:p>
            <a:pPr eaLnBrk="1" hangingPunct="1">
              <a:lnSpc>
                <a:spcPct val="120000"/>
              </a:lnSpc>
              <a:spcBef>
                <a:spcPct val="50000"/>
              </a:spcBef>
            </a:pPr>
            <a:r>
              <a:rPr lang="zh-CN" altLang="en-US" sz="1800" b="1" dirty="0">
                <a:solidFill>
                  <a:schemeClr val="tx1"/>
                </a:solidFill>
                <a:latin typeface="+mn-ea"/>
              </a:rPr>
              <a:t>时间：春学期开学</a:t>
            </a:r>
            <a:r>
              <a:rPr lang="en-US" altLang="zh-CN" sz="1800" b="1" dirty="0">
                <a:solidFill>
                  <a:schemeClr val="tx1"/>
                </a:solidFill>
                <a:latin typeface="+mn-ea"/>
              </a:rPr>
              <a:t>2</a:t>
            </a:r>
            <a:r>
              <a:rPr lang="zh-CN" altLang="en-US" sz="1800" b="1" dirty="0">
                <a:solidFill>
                  <a:schemeClr val="tx1"/>
                </a:solidFill>
                <a:latin typeface="+mn-ea"/>
              </a:rPr>
              <a:t>周内。</a:t>
            </a:r>
            <a:endParaRPr lang="zh-CN" altLang="en-US" sz="1800" b="1" dirty="0">
              <a:solidFill>
                <a:schemeClr val="tx1"/>
              </a:solidFill>
              <a:latin typeface="+mn-ea"/>
            </a:endParaRPr>
          </a:p>
          <a:p>
            <a:pPr eaLnBrk="1" hangingPunct="1">
              <a:lnSpc>
                <a:spcPct val="120000"/>
              </a:lnSpc>
              <a:spcBef>
                <a:spcPct val="50000"/>
              </a:spcBef>
            </a:pPr>
            <a:r>
              <a:rPr lang="zh-CN" altLang="en-US" sz="1800" b="1" dirty="0">
                <a:solidFill>
                  <a:schemeClr val="tx1"/>
                </a:solidFill>
                <a:latin typeface="+mn-ea"/>
              </a:rPr>
              <a:t>学生在系统中（流程管理</a:t>
            </a:r>
            <a:r>
              <a:rPr lang="en-US" altLang="zh-CN" sz="1800" b="1" dirty="0">
                <a:solidFill>
                  <a:schemeClr val="tx1"/>
                </a:solidFill>
                <a:latin typeface="+mn-ea"/>
              </a:rPr>
              <a:t>—</a:t>
            </a:r>
            <a:r>
              <a:rPr lang="zh-CN" altLang="en-US" sz="1800" b="1" dirty="0">
                <a:solidFill>
                  <a:schemeClr val="tx1"/>
                </a:solidFill>
                <a:latin typeface="+mn-ea"/>
              </a:rPr>
              <a:t>开题报告）上传开题报告，开题报告模板见教务处主页通知（</a:t>
            </a:r>
            <a:r>
              <a:rPr lang="en-US" altLang="zh-CN" sz="1800" b="1" dirty="0">
                <a:solidFill>
                  <a:schemeClr val="tx1"/>
                </a:solidFill>
                <a:latin typeface="+mn-ea"/>
              </a:rPr>
              <a:t>https://jwc.seu.edu.cn/2025/1028/c21681a543880/page.psp</a:t>
            </a:r>
            <a:r>
              <a:rPr lang="zh-CN" altLang="en-US" sz="1800" b="1" dirty="0">
                <a:solidFill>
                  <a:schemeClr val="tx1"/>
                </a:solidFill>
                <a:latin typeface="+mn-ea"/>
              </a:rPr>
              <a:t>），</a:t>
            </a:r>
            <a:endParaRPr lang="en-US" altLang="zh-CN" sz="1800" b="1" dirty="0">
              <a:solidFill>
                <a:schemeClr val="tx1"/>
              </a:solidFill>
              <a:latin typeface="+mn-ea"/>
            </a:endParaRPr>
          </a:p>
          <a:p>
            <a:pPr eaLnBrk="1" hangingPunct="1">
              <a:lnSpc>
                <a:spcPct val="120000"/>
              </a:lnSpc>
              <a:spcBef>
                <a:spcPct val="50000"/>
              </a:spcBef>
            </a:pPr>
            <a:r>
              <a:rPr lang="zh-CN" altLang="en-US" sz="1800" b="1" dirty="0">
                <a:solidFill>
                  <a:schemeClr val="tx1"/>
                </a:solidFill>
                <a:latin typeface="+mn-ea"/>
              </a:rPr>
              <a:t>提交翻译译文（流程管理</a:t>
            </a:r>
            <a:r>
              <a:rPr lang="en-US" altLang="zh-CN" sz="1800" b="1" dirty="0">
                <a:solidFill>
                  <a:schemeClr val="tx1"/>
                </a:solidFill>
                <a:latin typeface="+mn-ea"/>
              </a:rPr>
              <a:t>—</a:t>
            </a:r>
            <a:r>
              <a:rPr lang="zh-CN" altLang="en-US" sz="1800" b="1" dirty="0">
                <a:solidFill>
                  <a:schemeClr val="tx1"/>
                </a:solidFill>
                <a:latin typeface="+mn-ea"/>
              </a:rPr>
              <a:t>外文翻译），</a:t>
            </a:r>
            <a:r>
              <a:rPr lang="zh-CN" altLang="en-US" sz="1800" b="1" dirty="0">
                <a:solidFill>
                  <a:srgbClr val="C00000"/>
                </a:solidFill>
                <a:latin typeface="+mn-ea"/>
              </a:rPr>
              <a:t>不少于</a:t>
            </a:r>
            <a:r>
              <a:rPr lang="en-US" altLang="zh-CN" sz="1800" b="1" dirty="0">
                <a:solidFill>
                  <a:srgbClr val="C00000"/>
                </a:solidFill>
                <a:latin typeface="+mn-ea"/>
              </a:rPr>
              <a:t>5000</a:t>
            </a:r>
            <a:r>
              <a:rPr lang="zh-CN" altLang="en-US" sz="1800" b="1" dirty="0">
                <a:solidFill>
                  <a:srgbClr val="C00000"/>
                </a:solidFill>
                <a:latin typeface="+mn-ea"/>
              </a:rPr>
              <a:t>汉字</a:t>
            </a:r>
            <a:r>
              <a:rPr lang="zh-CN" altLang="en-US" sz="1800" b="1" dirty="0">
                <a:solidFill>
                  <a:schemeClr val="tx1"/>
                </a:solidFill>
                <a:latin typeface="+mn-ea"/>
              </a:rPr>
              <a:t>，翻译封面由系统自动生成</a:t>
            </a:r>
            <a:endParaRPr lang="en-US" altLang="zh-CN" sz="1800" b="1" dirty="0">
              <a:solidFill>
                <a:schemeClr val="tx1"/>
              </a:solidFill>
              <a:latin typeface="+mn-ea"/>
            </a:endParaRPr>
          </a:p>
          <a:p>
            <a:pPr eaLnBrk="1" hangingPunct="1">
              <a:lnSpc>
                <a:spcPct val="120000"/>
              </a:lnSpc>
              <a:spcBef>
                <a:spcPct val="50000"/>
              </a:spcBef>
            </a:pPr>
            <a:r>
              <a:rPr lang="zh-CN" altLang="en-US" sz="1800" b="1" dirty="0">
                <a:solidFill>
                  <a:schemeClr val="tx1"/>
                </a:solidFill>
                <a:latin typeface="+mn-ea"/>
              </a:rPr>
              <a:t>参加开题答辩。开题答辩由各系或课题组组织，</a:t>
            </a:r>
            <a:r>
              <a:rPr lang="zh-CN" altLang="en-US" sz="1800" b="1" dirty="0">
                <a:solidFill>
                  <a:srgbClr val="C00000"/>
                </a:solidFill>
                <a:latin typeface="+mn-ea"/>
              </a:rPr>
              <a:t>具体安排咨询指导老师</a:t>
            </a:r>
            <a:r>
              <a:rPr lang="zh-CN" altLang="en-US" sz="1800" b="1" dirty="0">
                <a:solidFill>
                  <a:schemeClr val="tx1"/>
                </a:solidFill>
                <a:latin typeface="+mn-ea"/>
              </a:rPr>
              <a:t>。开题答辩主要检查学生选题是否合理、文献综述是否充分、方案论证是否合理、进度安排是否合理、工作量是否适当等如学生开题答辩未通过， 需</a:t>
            </a:r>
            <a:r>
              <a:rPr lang="en-US" altLang="zh-CN" sz="1800" b="1" dirty="0">
                <a:solidFill>
                  <a:schemeClr val="tx1"/>
                </a:solidFill>
                <a:latin typeface="+mn-ea"/>
              </a:rPr>
              <a:t>1</a:t>
            </a:r>
            <a:r>
              <a:rPr lang="zh-CN" altLang="en-US" sz="1800" b="1" dirty="0">
                <a:solidFill>
                  <a:schemeClr val="tx1"/>
                </a:solidFill>
                <a:latin typeface="+mn-ea"/>
              </a:rPr>
              <a:t>周内重新申请开题。</a:t>
            </a:r>
            <a:endParaRPr lang="en-US" altLang="zh-CN" sz="1800" b="1" dirty="0">
              <a:solidFill>
                <a:schemeClr val="tx1"/>
              </a:solidFill>
              <a:latin typeface="+mn-ea"/>
            </a:endParaRPr>
          </a:p>
          <a:p>
            <a:pPr marL="0" indent="0" eaLnBrk="1" hangingPunct="1">
              <a:spcBef>
                <a:spcPct val="50000"/>
              </a:spcBef>
              <a:buNone/>
            </a:pPr>
            <a:endParaRPr lang="en-US" altLang="zh-CN" sz="1800" b="1" dirty="0">
              <a:solidFill>
                <a:schemeClr val="tx1"/>
              </a:solidFill>
              <a:latin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pic>
        <p:nvPicPr>
          <p:cNvPr id="7" name="图片 6"/>
          <p:cNvPicPr>
            <a:picLocks noChangeAspect="1"/>
          </p:cNvPicPr>
          <p:nvPr/>
        </p:nvPicPr>
        <p:blipFill>
          <a:blip r:embed="rId1"/>
          <a:stretch>
            <a:fillRect/>
          </a:stretch>
        </p:blipFill>
        <p:spPr>
          <a:xfrm>
            <a:off x="1654591" y="4160449"/>
            <a:ext cx="8453015" cy="2328891"/>
          </a:xfrm>
          <a:prstGeom prst="rect">
            <a:avLst/>
          </a:prstGeom>
        </p:spPr>
      </p:pic>
      <p:sp>
        <p:nvSpPr>
          <p:cNvPr id="8" name="标题 1"/>
          <p:cNvSpPr txBox="1"/>
          <p:nvPr/>
        </p:nvSpPr>
        <p:spPr bwMode="auto">
          <a:xfrm>
            <a:off x="0" y="0"/>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a:lstStyle>
          <a:p>
            <a:r>
              <a:rPr lang="zh-CN" altLang="en-US" sz="2800" kern="0" dirty="0">
                <a:solidFill>
                  <a:schemeClr val="tx1"/>
                </a:solidFill>
                <a:latin typeface="+mn-ea"/>
                <a:ea typeface="+mn-ea"/>
              </a:rPr>
              <a:t>开题</a:t>
            </a:r>
            <a:endParaRPr lang="zh-CN" altLang="en-US" sz="2800" kern="0" dirty="0">
              <a:solidFill>
                <a:schemeClr val="tx1"/>
              </a:solidFill>
              <a:latin typeface="+mn-ea"/>
              <a:ea typeface="+mn-ea"/>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6" name="内容占位符 2"/>
          <p:cNvSpPr>
            <a:spLocks noGrp="1"/>
          </p:cNvSpPr>
          <p:nvPr>
            <p:ph sz="half" idx="1"/>
          </p:nvPr>
        </p:nvSpPr>
        <p:spPr>
          <a:xfrm>
            <a:off x="376647" y="924621"/>
            <a:ext cx="10977154" cy="3528846"/>
          </a:xfrm>
        </p:spPr>
        <p:txBody>
          <a:bodyPr/>
          <a:lstStyle/>
          <a:p>
            <a:pPr eaLnBrk="1" hangingPunct="1">
              <a:spcBef>
                <a:spcPct val="50000"/>
              </a:spcBef>
            </a:pPr>
            <a:r>
              <a:rPr lang="zh-CN" altLang="en-US" sz="1800" b="1" dirty="0">
                <a:solidFill>
                  <a:schemeClr val="tx1"/>
                </a:solidFill>
                <a:latin typeface="+mn-ea"/>
              </a:rPr>
              <a:t>时间：</a:t>
            </a:r>
            <a:r>
              <a:rPr lang="en-US" altLang="zh-CN" sz="1800" b="1" dirty="0">
                <a:solidFill>
                  <a:schemeClr val="tx1"/>
                </a:solidFill>
                <a:latin typeface="+mn-ea"/>
              </a:rPr>
              <a:t>4</a:t>
            </a:r>
            <a:r>
              <a:rPr lang="zh-CN" altLang="en-US" sz="1800" b="1" dirty="0">
                <a:solidFill>
                  <a:schemeClr val="tx1"/>
                </a:solidFill>
                <a:latin typeface="+mn-ea"/>
              </a:rPr>
              <a:t>月。</a:t>
            </a:r>
            <a:endParaRPr lang="zh-CN" altLang="en-US" sz="1800" b="1" dirty="0">
              <a:solidFill>
                <a:schemeClr val="tx1"/>
              </a:solidFill>
              <a:latin typeface="+mn-ea"/>
            </a:endParaRPr>
          </a:p>
          <a:p>
            <a:pPr eaLnBrk="1" hangingPunct="1">
              <a:spcBef>
                <a:spcPct val="50000"/>
              </a:spcBef>
            </a:pPr>
            <a:r>
              <a:rPr lang="zh-CN" altLang="en-US" sz="1800" b="1" dirty="0">
                <a:solidFill>
                  <a:schemeClr val="tx1"/>
                </a:solidFill>
                <a:latin typeface="+mn-ea"/>
              </a:rPr>
              <a:t>流程：学生在系统中（流程管理</a:t>
            </a:r>
            <a:r>
              <a:rPr lang="en-US" altLang="zh-CN" sz="1800" b="1" dirty="0">
                <a:solidFill>
                  <a:schemeClr val="tx1"/>
                </a:solidFill>
                <a:latin typeface="+mn-ea"/>
              </a:rPr>
              <a:t>—</a:t>
            </a:r>
            <a:r>
              <a:rPr lang="zh-CN" altLang="en-US" sz="1800" b="1" dirty="0">
                <a:solidFill>
                  <a:schemeClr val="tx1"/>
                </a:solidFill>
                <a:latin typeface="+mn-ea"/>
              </a:rPr>
              <a:t>中期检查）填写并提交中期检查表，内容应详实具体 。</a:t>
            </a:r>
            <a:endParaRPr lang="en-US" altLang="zh-CN" sz="1800" b="1" dirty="0">
              <a:solidFill>
                <a:schemeClr val="tx1"/>
              </a:solidFill>
              <a:latin typeface="+mn-ea"/>
            </a:endParaRPr>
          </a:p>
          <a:p>
            <a:pPr eaLnBrk="1" hangingPunct="1">
              <a:spcBef>
                <a:spcPct val="50000"/>
              </a:spcBef>
            </a:pPr>
            <a:r>
              <a:rPr lang="zh-CN" altLang="en-US" sz="1800" b="1" dirty="0">
                <a:solidFill>
                  <a:schemeClr val="tx1"/>
                </a:solidFill>
                <a:latin typeface="+mn-ea"/>
              </a:rPr>
              <a:t>学院专家组对毕业设计前期材料进行抽查（任务书、 开题报告、 翻译原文及译文、 中期检查报告等） ， 抽查数量不少于</a:t>
            </a:r>
            <a:r>
              <a:rPr lang="en-US" altLang="zh-CN" sz="1800" b="1" dirty="0">
                <a:solidFill>
                  <a:schemeClr val="tx1"/>
                </a:solidFill>
                <a:latin typeface="+mn-ea"/>
              </a:rPr>
              <a:t>30%</a:t>
            </a:r>
            <a:endParaRPr lang="en-US" altLang="zh-CN" sz="1800" b="1" dirty="0">
              <a:solidFill>
                <a:schemeClr val="tx1"/>
              </a:solidFill>
              <a:latin typeface="+mn-ea"/>
            </a:endParaRPr>
          </a:p>
          <a:p>
            <a:pPr eaLnBrk="1" hangingPunct="1">
              <a:spcBef>
                <a:spcPct val="50000"/>
              </a:spcBef>
            </a:pPr>
            <a:r>
              <a:rPr lang="zh-CN" altLang="en-US" sz="1800" b="1" dirty="0">
                <a:solidFill>
                  <a:srgbClr val="C00000"/>
                </a:solidFill>
                <a:latin typeface="+mn-ea"/>
              </a:rPr>
              <a:t>课题名称即为毕业论文题目！中期检查后，课题名称不得修改。中期检查前如需修改课题，必需向学院提出申请，不得自行随意更改！</a:t>
            </a:r>
            <a:endParaRPr lang="zh-CN" altLang="en-US" sz="1800" b="1" dirty="0">
              <a:solidFill>
                <a:srgbClr val="C00000"/>
              </a:solidFill>
              <a:latin typeface="+mn-ea"/>
            </a:endParaRPr>
          </a:p>
        </p:txBody>
      </p:sp>
      <p:sp>
        <p:nvSpPr>
          <p:cNvPr id="8" name="标题 1"/>
          <p:cNvSpPr txBox="1"/>
          <p:nvPr/>
        </p:nvSpPr>
        <p:spPr bwMode="auto">
          <a:xfrm>
            <a:off x="0" y="0"/>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a:lstStyle>
          <a:p>
            <a:r>
              <a:rPr lang="zh-CN" altLang="en-US" sz="2800" kern="0" dirty="0">
                <a:solidFill>
                  <a:schemeClr val="tx1"/>
                </a:solidFill>
                <a:latin typeface="+mn-ea"/>
                <a:ea typeface="+mn-ea"/>
              </a:rPr>
              <a:t>中期检查</a:t>
            </a:r>
            <a:endParaRPr lang="zh-CN" altLang="en-US" sz="2800" kern="0" dirty="0">
              <a:solidFill>
                <a:schemeClr val="tx1"/>
              </a:solidFill>
              <a:latin typeface="+mn-ea"/>
              <a:ea typeface="+mn-ea"/>
            </a:endParaRPr>
          </a:p>
        </p:txBody>
      </p:sp>
      <p:pic>
        <p:nvPicPr>
          <p:cNvPr id="9" name="图片 8"/>
          <p:cNvPicPr>
            <a:picLocks noChangeAspect="1"/>
          </p:cNvPicPr>
          <p:nvPr/>
        </p:nvPicPr>
        <p:blipFill rotWithShape="1">
          <a:blip r:embed="rId1"/>
          <a:srcRect r="15102" b="11533"/>
          <a:stretch>
            <a:fillRect/>
          </a:stretch>
        </p:blipFill>
        <p:spPr>
          <a:xfrm>
            <a:off x="3958588" y="3039622"/>
            <a:ext cx="4610892" cy="3528846"/>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376647" y="1052514"/>
            <a:ext cx="10977154" cy="2207623"/>
          </a:xfrm>
        </p:spPr>
        <p:txBody>
          <a:bodyPr/>
          <a:lstStyle/>
          <a:p>
            <a:pPr eaLnBrk="1" hangingPunct="1">
              <a:spcBef>
                <a:spcPct val="50000"/>
              </a:spcBef>
            </a:pPr>
            <a:r>
              <a:rPr lang="zh-CN" altLang="en-US" sz="1800" b="1" dirty="0">
                <a:solidFill>
                  <a:schemeClr val="tx1"/>
                </a:solidFill>
                <a:latin typeface="+mn-ea"/>
              </a:rPr>
              <a:t>时间：</a:t>
            </a:r>
            <a:r>
              <a:rPr lang="en-US" altLang="zh-CN" sz="1800" b="1" dirty="0">
                <a:solidFill>
                  <a:schemeClr val="tx1"/>
                </a:solidFill>
                <a:latin typeface="+mn-ea"/>
              </a:rPr>
              <a:t>5</a:t>
            </a:r>
            <a:r>
              <a:rPr lang="zh-CN" altLang="en-US" sz="1800" b="1" dirty="0">
                <a:solidFill>
                  <a:schemeClr val="tx1"/>
                </a:solidFill>
                <a:latin typeface="+mn-ea"/>
              </a:rPr>
              <a:t>月底</a:t>
            </a:r>
            <a:r>
              <a:rPr lang="en-US" altLang="zh-CN" sz="1800" b="1" dirty="0">
                <a:solidFill>
                  <a:schemeClr val="tx1"/>
                </a:solidFill>
                <a:latin typeface="+mn-ea"/>
              </a:rPr>
              <a:t>6</a:t>
            </a:r>
            <a:r>
              <a:rPr lang="zh-CN" altLang="en-US" sz="1800" b="1" dirty="0">
                <a:solidFill>
                  <a:schemeClr val="tx1"/>
                </a:solidFill>
                <a:latin typeface="+mn-ea"/>
              </a:rPr>
              <a:t>月初。流程：学生在系统中（流程管理</a:t>
            </a:r>
            <a:r>
              <a:rPr lang="en-US" altLang="zh-CN" sz="1800" b="1" dirty="0">
                <a:solidFill>
                  <a:schemeClr val="tx1"/>
                </a:solidFill>
                <a:latin typeface="+mn-ea"/>
              </a:rPr>
              <a:t>—</a:t>
            </a:r>
            <a:r>
              <a:rPr lang="zh-CN" altLang="en-US" sz="1800" b="1" dirty="0">
                <a:solidFill>
                  <a:schemeClr val="tx1"/>
                </a:solidFill>
                <a:latin typeface="+mn-ea"/>
              </a:rPr>
              <a:t>上传论文定稿）上传定稿后，选择进行查重检测，并提交给指导教师进行系统审核。</a:t>
            </a:r>
            <a:r>
              <a:rPr lang="zh-CN" altLang="en-US" sz="1800" b="1" dirty="0">
                <a:latin typeface="宋体" panose="02010600030101010101" pitchFamily="2" charset="-122"/>
                <a:ea typeface="宋体" panose="02010600030101010101" pitchFamily="2" charset="-122"/>
                <a:sym typeface="+mn-ea"/>
              </a:rPr>
              <a:t>明确规定：</a:t>
            </a:r>
            <a:r>
              <a:rPr lang="en-US" altLang="zh-CN" sz="1800" b="1" dirty="0">
                <a:latin typeface="宋体" panose="02010600030101010101" pitchFamily="2" charset="-122"/>
                <a:ea typeface="宋体" panose="02010600030101010101" pitchFamily="2" charset="-122"/>
                <a:sym typeface="+mn-ea"/>
              </a:rPr>
              <a:t> </a:t>
            </a:r>
            <a:r>
              <a:rPr lang="zh-CN" altLang="en-US" sz="1800" b="1" dirty="0">
                <a:solidFill>
                  <a:srgbClr val="FF0000"/>
                </a:solidFill>
                <a:latin typeface="宋体" panose="02010600030101010101" pitchFamily="2" charset="-122"/>
                <a:ea typeface="宋体" panose="02010600030101010101" pitchFamily="2" charset="-122"/>
                <a:sym typeface="+mn-ea"/>
              </a:rPr>
              <a:t>不能用英文撰写论文</a:t>
            </a:r>
            <a:endParaRPr lang="en-US" altLang="zh-CN" sz="1800" b="1" dirty="0">
              <a:solidFill>
                <a:schemeClr val="tx1"/>
              </a:solidFill>
              <a:latin typeface="+mn-ea"/>
            </a:endParaRPr>
          </a:p>
          <a:p>
            <a:pPr eaLnBrk="1" hangingPunct="1">
              <a:spcBef>
                <a:spcPct val="50000"/>
              </a:spcBef>
            </a:pPr>
            <a:endParaRPr lang="en-US" altLang="zh-CN" sz="1800" b="1" dirty="0">
              <a:solidFill>
                <a:schemeClr val="tx1"/>
              </a:solidFill>
              <a:latin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7" name="标题 1"/>
          <p:cNvSpPr txBox="1"/>
          <p:nvPr/>
        </p:nvSpPr>
        <p:spPr bwMode="auto">
          <a:xfrm>
            <a:off x="0" y="0"/>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a:lstStyle>
          <a:p>
            <a:r>
              <a:rPr lang="zh-CN" altLang="en-US" sz="2800" kern="0" dirty="0">
                <a:solidFill>
                  <a:schemeClr val="tx1"/>
                </a:solidFill>
                <a:latin typeface="+mn-ea"/>
                <a:ea typeface="+mn-ea"/>
              </a:rPr>
              <a:t>论文查重及提交</a:t>
            </a:r>
            <a:endParaRPr lang="zh-CN" altLang="en-US" sz="2800" kern="0" dirty="0">
              <a:solidFill>
                <a:schemeClr val="tx1"/>
              </a:solidFill>
              <a:latin typeface="+mn-ea"/>
              <a:ea typeface="+mn-ea"/>
            </a:endParaRPr>
          </a:p>
        </p:txBody>
      </p:sp>
      <p:pic>
        <p:nvPicPr>
          <p:cNvPr id="6" name="Picture 2"/>
          <p:cNvPicPr>
            <a:picLocks noChangeAspect="1" noChangeArrowheads="1"/>
          </p:cNvPicPr>
          <p:nvPr/>
        </p:nvPicPr>
        <p:blipFill>
          <a:blip r:embed="rId1"/>
          <a:srcRect/>
          <a:stretch>
            <a:fillRect/>
          </a:stretch>
        </p:blipFill>
        <p:spPr bwMode="auto">
          <a:xfrm>
            <a:off x="2561738" y="2721926"/>
            <a:ext cx="5384800" cy="3201467"/>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01676" y="1889010"/>
            <a:ext cx="9737724" cy="646331"/>
          </a:xfrm>
          <a:prstGeom prst="rect">
            <a:avLst/>
          </a:prstGeom>
        </p:spPr>
        <p:txBody>
          <a:bodyPr wrap="square">
            <a:spAutoFit/>
          </a:bodyPr>
          <a:lstStyle/>
          <a:p>
            <a:r>
              <a:rPr lang="zh-CN" altLang="en-US" sz="1800" b="1" dirty="0">
                <a:solidFill>
                  <a:srgbClr val="C00000"/>
                </a:solidFill>
                <a:latin typeface="+mn-ea"/>
              </a:rPr>
              <a:t>线下与指导老师交流，老师审核过再提交定稿，勿把系统当交流工具。</a:t>
            </a:r>
            <a:endParaRPr lang="zh-CN" altLang="en-US" sz="1800" b="1" dirty="0">
              <a:solidFill>
                <a:srgbClr val="C00000"/>
              </a:solidFill>
              <a:latin typeface="+mn-ea"/>
            </a:endParaRPr>
          </a:p>
          <a:p>
            <a:r>
              <a:rPr lang="zh-CN" altLang="en-US" b="1" dirty="0">
                <a:latin typeface="+mn-ea"/>
              </a:rPr>
              <a:t> </a:t>
            </a:r>
            <a:endParaRPr lang="zh-CN" altLang="en-US" b="1" dirty="0">
              <a:latin typeface="+mn-ea"/>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mn-ea"/>
                <a:ea typeface="+mn-ea"/>
              </a:rPr>
              <a:t>论文查重及提交</a:t>
            </a:r>
            <a:endParaRPr lang="zh-CN" altLang="en-US" sz="2800" dirty="0">
              <a:solidFill>
                <a:schemeClr val="tx1"/>
              </a:solidFill>
              <a:latin typeface="+mn-ea"/>
              <a:ea typeface="+mn-ea"/>
            </a:endParaRPr>
          </a:p>
        </p:txBody>
      </p:sp>
      <p:sp>
        <p:nvSpPr>
          <p:cNvPr id="4" name="内容占位符 3"/>
          <p:cNvSpPr>
            <a:spLocks noGrp="1"/>
          </p:cNvSpPr>
          <p:nvPr>
            <p:ph sz="half" idx="2"/>
          </p:nvPr>
        </p:nvSpPr>
        <p:spPr>
          <a:xfrm>
            <a:off x="152398" y="1491891"/>
            <a:ext cx="6443134" cy="4382311"/>
          </a:xfrm>
        </p:spPr>
        <p:txBody>
          <a:bodyPr/>
          <a:lstStyle/>
          <a:p>
            <a:r>
              <a:rPr lang="zh-CN" altLang="en-US" sz="1800" b="1" dirty="0">
                <a:solidFill>
                  <a:schemeClr val="tx1"/>
                </a:solidFill>
                <a:latin typeface="+mn-ea"/>
              </a:rPr>
              <a:t> 上传论文及查重步骤： </a:t>
            </a:r>
            <a:endParaRPr lang="zh-CN" altLang="en-US" sz="1800" b="1" dirty="0">
              <a:solidFill>
                <a:schemeClr val="tx1"/>
              </a:solidFill>
              <a:latin typeface="+mn-ea"/>
            </a:endParaRPr>
          </a:p>
          <a:p>
            <a:r>
              <a:rPr lang="zh-CN" altLang="en-US" sz="1800" b="1" dirty="0">
                <a:solidFill>
                  <a:schemeClr val="tx1"/>
                </a:solidFill>
                <a:latin typeface="+mn-ea"/>
              </a:rPr>
              <a:t>（</a:t>
            </a:r>
            <a:r>
              <a:rPr lang="en-US" altLang="zh-CN" sz="1800" b="1" dirty="0">
                <a:solidFill>
                  <a:schemeClr val="tx1"/>
                </a:solidFill>
                <a:latin typeface="+mn-ea"/>
              </a:rPr>
              <a:t>1</a:t>
            </a:r>
            <a:r>
              <a:rPr lang="zh-CN" altLang="en-US" sz="1800" b="1" dirty="0">
                <a:solidFill>
                  <a:schemeClr val="tx1"/>
                </a:solidFill>
                <a:latin typeface="+mn-ea"/>
              </a:rPr>
              <a:t>）选择论文文件，并点击上传按钮上传论文文件； </a:t>
            </a:r>
            <a:endParaRPr lang="zh-CN" altLang="en-US" sz="1800" b="1" dirty="0">
              <a:solidFill>
                <a:schemeClr val="tx1"/>
              </a:solidFill>
              <a:latin typeface="+mn-ea"/>
            </a:endParaRPr>
          </a:p>
          <a:p>
            <a:r>
              <a:rPr lang="zh-CN" altLang="en-US" sz="1800" b="1" dirty="0">
                <a:solidFill>
                  <a:schemeClr val="tx1"/>
                </a:solidFill>
                <a:latin typeface="+mn-ea"/>
              </a:rPr>
              <a:t>（</a:t>
            </a:r>
            <a:r>
              <a:rPr lang="en-US" altLang="zh-CN" sz="1800" b="1" dirty="0">
                <a:solidFill>
                  <a:schemeClr val="tx1"/>
                </a:solidFill>
                <a:latin typeface="+mn-ea"/>
              </a:rPr>
              <a:t>2</a:t>
            </a:r>
            <a:r>
              <a:rPr lang="zh-CN" altLang="en-US" sz="1800" b="1" dirty="0">
                <a:solidFill>
                  <a:schemeClr val="tx1"/>
                </a:solidFill>
                <a:latin typeface="+mn-ea"/>
              </a:rPr>
              <a:t>）点击查重按钮，提交查重检测，等待获取查重结果； </a:t>
            </a:r>
            <a:endParaRPr lang="zh-CN" altLang="en-US" sz="1800" b="1" dirty="0">
              <a:solidFill>
                <a:schemeClr val="tx1"/>
              </a:solidFill>
              <a:latin typeface="+mn-ea"/>
            </a:endParaRPr>
          </a:p>
          <a:p>
            <a:r>
              <a:rPr lang="zh-CN" altLang="en-US" sz="1800" b="1" dirty="0">
                <a:solidFill>
                  <a:schemeClr val="tx1"/>
                </a:solidFill>
                <a:latin typeface="+mn-ea"/>
              </a:rPr>
              <a:t>（</a:t>
            </a:r>
            <a:r>
              <a:rPr lang="en-US" altLang="zh-CN" sz="1800" b="1" dirty="0">
                <a:solidFill>
                  <a:schemeClr val="tx1"/>
                </a:solidFill>
                <a:latin typeface="+mn-ea"/>
              </a:rPr>
              <a:t>3</a:t>
            </a:r>
            <a:r>
              <a:rPr lang="zh-CN" altLang="en-US" sz="1800" b="1" dirty="0">
                <a:solidFill>
                  <a:schemeClr val="tx1"/>
                </a:solidFill>
                <a:latin typeface="+mn-ea"/>
              </a:rPr>
              <a:t>）点击获取检测结果按钮，查看查重报告及结果； </a:t>
            </a:r>
            <a:endParaRPr lang="zh-CN" altLang="en-US" sz="1800" b="1" dirty="0">
              <a:solidFill>
                <a:schemeClr val="tx1"/>
              </a:solidFill>
              <a:latin typeface="+mn-ea"/>
            </a:endParaRPr>
          </a:p>
          <a:p>
            <a:r>
              <a:rPr lang="zh-CN" altLang="en-US" sz="1800" b="1" dirty="0">
                <a:solidFill>
                  <a:schemeClr val="tx1"/>
                </a:solidFill>
                <a:latin typeface="+mn-ea"/>
              </a:rPr>
              <a:t>（</a:t>
            </a:r>
            <a:r>
              <a:rPr lang="en-US" altLang="zh-CN" sz="1800" b="1" dirty="0">
                <a:solidFill>
                  <a:schemeClr val="tx1"/>
                </a:solidFill>
                <a:latin typeface="+mn-ea"/>
              </a:rPr>
              <a:t>4</a:t>
            </a:r>
            <a:r>
              <a:rPr lang="zh-CN" altLang="en-US" sz="1800" b="1" dirty="0">
                <a:solidFill>
                  <a:schemeClr val="tx1"/>
                </a:solidFill>
                <a:latin typeface="+mn-ea"/>
              </a:rPr>
              <a:t>）如论文及查重结果正确无误，可点击确认按钮，提交至指导老师审核。 </a:t>
            </a:r>
            <a:endParaRPr lang="zh-CN" altLang="en-US" sz="1800" b="1" dirty="0">
              <a:solidFill>
                <a:schemeClr val="tx1"/>
              </a:solidFill>
              <a:latin typeface="+mn-ea"/>
            </a:endParaRPr>
          </a:p>
          <a:p>
            <a:r>
              <a:rPr lang="zh-CN" altLang="en-US" sz="1800" b="1" dirty="0">
                <a:solidFill>
                  <a:schemeClr val="tx1"/>
                </a:solidFill>
                <a:latin typeface="+mn-ea"/>
              </a:rPr>
              <a:t>论文上传及检测步骤操作步骤如下图</a:t>
            </a:r>
            <a:r>
              <a:rPr lang="en-US" altLang="zh-CN" sz="1800" b="1" dirty="0">
                <a:solidFill>
                  <a:schemeClr val="tx1"/>
                </a:solidFill>
                <a:latin typeface="+mn-ea"/>
              </a:rPr>
              <a:t>1-2-3-4-5</a:t>
            </a:r>
            <a:r>
              <a:rPr lang="zh-CN" altLang="en-US" sz="1800" b="1" dirty="0">
                <a:solidFill>
                  <a:schemeClr val="tx1"/>
                </a:solidFill>
                <a:latin typeface="+mn-ea"/>
              </a:rPr>
              <a:t>所示。点击“获取检测结果按钮”后，如状态为“检测中”则需要耐心等待直至查重结果返回后，才可点击确认按钮。 </a:t>
            </a:r>
            <a:endParaRPr lang="zh-CN" altLang="en-US" sz="1800" b="1" dirty="0">
              <a:solidFill>
                <a:schemeClr val="tx1"/>
              </a:solidFill>
              <a:latin typeface="+mn-ea"/>
            </a:endParaRPr>
          </a:p>
          <a:p>
            <a:r>
              <a:rPr lang="zh-CN" altLang="en-US" sz="1800" b="1" dirty="0">
                <a:solidFill>
                  <a:schemeClr val="tx1"/>
                </a:solidFill>
                <a:latin typeface="+mn-ea"/>
              </a:rPr>
              <a:t>查重结果正确返回的标志为：显示状态为“检测完成”，相似率不为空，查重报告可查看及下载。 </a:t>
            </a:r>
            <a:endParaRPr lang="en-US" altLang="zh-CN" sz="1800" b="1" dirty="0">
              <a:solidFill>
                <a:schemeClr val="tx1"/>
              </a:solidFill>
              <a:latin typeface="+mn-ea"/>
            </a:endParaRPr>
          </a:p>
          <a:p>
            <a:r>
              <a:rPr lang="zh-CN" altLang="en-US" sz="1800" b="1" dirty="0">
                <a:solidFill>
                  <a:schemeClr val="tx1"/>
                </a:solidFill>
                <a:latin typeface="+mn-ea"/>
              </a:rPr>
              <a:t>如学生提交查重检测提示查重失败，需要点击“删除”按钮，对所上传的论文进行修改后重新上传。查重失败的，不占用查重次数。 </a:t>
            </a:r>
            <a:endParaRPr lang="zh-CN" altLang="en-US" sz="1800" b="1" dirty="0">
              <a:solidFill>
                <a:schemeClr val="tx1"/>
              </a:solidFill>
              <a:latin typeface="+mn-ea"/>
            </a:endParaRPr>
          </a:p>
          <a:p>
            <a:endParaRPr lang="zh-CN" altLang="en-US" sz="1800" b="1" dirty="0">
              <a:solidFill>
                <a:schemeClr val="tx1"/>
              </a:solidFill>
              <a:latin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pic>
        <p:nvPicPr>
          <p:cNvPr id="1026" name="Picture 2"/>
          <p:cNvPicPr>
            <a:picLocks noGrp="1" noChangeAspect="1" noChangeArrowheads="1"/>
          </p:cNvPicPr>
          <p:nvPr>
            <p:ph sz="half" idx="1"/>
          </p:nvPr>
        </p:nvPicPr>
        <p:blipFill>
          <a:blip r:embed="rId1"/>
          <a:srcRect/>
          <a:stretch>
            <a:fillRect/>
          </a:stretch>
        </p:blipFill>
        <p:spPr bwMode="auto">
          <a:xfrm>
            <a:off x="6654802" y="1593209"/>
            <a:ext cx="5384800" cy="4382311"/>
          </a:xfrm>
          <a:prstGeom prst="rect">
            <a:avLst/>
          </a:prstGeom>
          <a:noFill/>
          <a:ln w="9525">
            <a:noFill/>
            <a:miter lim="800000"/>
            <a:headEnd/>
            <a:tailEnd/>
          </a:ln>
          <a:effectLst/>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mn-ea"/>
                <a:ea typeface="+mn-ea"/>
              </a:rPr>
              <a:t>论文查重及提交</a:t>
            </a:r>
            <a:endParaRPr lang="zh-CN" altLang="en-US" sz="2800" dirty="0">
              <a:solidFill>
                <a:schemeClr val="tx1"/>
              </a:solidFill>
              <a:latin typeface="+mn-ea"/>
              <a:ea typeface="+mn-ea"/>
            </a:endParaRPr>
          </a:p>
        </p:txBody>
      </p:sp>
      <p:sp>
        <p:nvSpPr>
          <p:cNvPr id="3" name="内容占位符 2"/>
          <p:cNvSpPr>
            <a:spLocks noGrp="1"/>
          </p:cNvSpPr>
          <p:nvPr>
            <p:ph sz="half" idx="1"/>
          </p:nvPr>
        </p:nvSpPr>
        <p:spPr>
          <a:xfrm>
            <a:off x="1809750" y="1151877"/>
            <a:ext cx="8572500" cy="5337463"/>
          </a:xfrm>
        </p:spPr>
        <p:txBody>
          <a:bodyPr/>
          <a:lstStyle/>
          <a:p>
            <a:pPr>
              <a:lnSpc>
                <a:spcPct val="150000"/>
              </a:lnSpc>
            </a:pPr>
            <a:r>
              <a:rPr lang="zh-CN" altLang="en-US" sz="1800" b="1" dirty="0">
                <a:solidFill>
                  <a:schemeClr val="tx1"/>
                </a:solidFill>
                <a:latin typeface="+mn-ea"/>
              </a:rPr>
              <a:t> 系统查重（维普）论文的格式要求为：</a:t>
            </a:r>
            <a:r>
              <a:rPr lang="zh-CN" altLang="en-US" sz="1800" b="1" dirty="0">
                <a:solidFill>
                  <a:srgbClr val="C00000"/>
                </a:solidFill>
                <a:latin typeface="+mn-ea"/>
              </a:rPr>
              <a:t>检测的文档格式：</a:t>
            </a:r>
            <a:r>
              <a:rPr lang="en-US" altLang="zh-CN" sz="1800" b="1" dirty="0">
                <a:solidFill>
                  <a:srgbClr val="C00000"/>
                </a:solidFill>
                <a:latin typeface="+mn-ea"/>
              </a:rPr>
              <a:t>doc</a:t>
            </a:r>
            <a:r>
              <a:rPr lang="zh-CN" altLang="en-US" sz="1800" b="1" dirty="0">
                <a:solidFill>
                  <a:srgbClr val="C00000"/>
                </a:solidFill>
                <a:latin typeface="+mn-ea"/>
              </a:rPr>
              <a:t>、</a:t>
            </a:r>
            <a:r>
              <a:rPr lang="en-US" altLang="zh-CN" sz="1800" b="1" dirty="0" err="1">
                <a:solidFill>
                  <a:srgbClr val="C00000"/>
                </a:solidFill>
                <a:latin typeface="+mn-ea"/>
              </a:rPr>
              <a:t>docx</a:t>
            </a:r>
            <a:r>
              <a:rPr lang="zh-CN" altLang="en-US" sz="1800" b="1" dirty="0">
                <a:solidFill>
                  <a:srgbClr val="C00000"/>
                </a:solidFill>
                <a:latin typeface="+mn-ea"/>
              </a:rPr>
              <a:t>、 </a:t>
            </a:r>
            <a:r>
              <a:rPr lang="en-US" altLang="zh-CN" sz="1800" b="1" dirty="0" err="1">
                <a:solidFill>
                  <a:srgbClr val="C00000"/>
                </a:solidFill>
                <a:latin typeface="+mn-ea"/>
              </a:rPr>
              <a:t>pdf</a:t>
            </a:r>
            <a:r>
              <a:rPr lang="zh-CN" altLang="en-US" sz="1800" b="1" dirty="0">
                <a:solidFill>
                  <a:srgbClr val="C00000"/>
                </a:solidFill>
                <a:latin typeface="+mn-ea"/>
              </a:rPr>
              <a:t>。不支持</a:t>
            </a:r>
            <a:r>
              <a:rPr lang="en-US" altLang="zh-CN" sz="1800" b="1" dirty="0" err="1">
                <a:solidFill>
                  <a:srgbClr val="C00000"/>
                </a:solidFill>
                <a:latin typeface="+mn-ea"/>
              </a:rPr>
              <a:t>wps</a:t>
            </a:r>
            <a:r>
              <a:rPr lang="zh-CN" altLang="en-US" sz="1800" b="1" dirty="0">
                <a:solidFill>
                  <a:srgbClr val="C00000"/>
                </a:solidFill>
                <a:latin typeface="+mn-ea"/>
              </a:rPr>
              <a:t>，也不支持</a:t>
            </a:r>
            <a:r>
              <a:rPr lang="en-US" altLang="zh-CN" sz="1800" b="1" dirty="0" err="1">
                <a:solidFill>
                  <a:srgbClr val="C00000"/>
                </a:solidFill>
                <a:latin typeface="+mn-ea"/>
              </a:rPr>
              <a:t>wps</a:t>
            </a:r>
            <a:r>
              <a:rPr lang="zh-CN" altLang="en-US" sz="1800" b="1" dirty="0">
                <a:solidFill>
                  <a:srgbClr val="C00000"/>
                </a:solidFill>
                <a:latin typeface="+mn-ea"/>
              </a:rPr>
              <a:t>直接转化的</a:t>
            </a:r>
            <a:r>
              <a:rPr lang="en-US" altLang="zh-CN" sz="1800" b="1" dirty="0" err="1">
                <a:solidFill>
                  <a:srgbClr val="C00000"/>
                </a:solidFill>
                <a:latin typeface="+mn-ea"/>
              </a:rPr>
              <a:t>pdf</a:t>
            </a:r>
            <a:r>
              <a:rPr lang="zh-CN" altLang="en-US" sz="1800" b="1" dirty="0">
                <a:solidFill>
                  <a:srgbClr val="C00000"/>
                </a:solidFill>
                <a:latin typeface="+mn-ea"/>
              </a:rPr>
              <a:t>文档。</a:t>
            </a:r>
            <a:r>
              <a:rPr lang="zh-CN" altLang="en-US" sz="1800" b="1" dirty="0">
                <a:solidFill>
                  <a:schemeClr val="tx1"/>
                </a:solidFill>
                <a:latin typeface="+mn-ea"/>
              </a:rPr>
              <a:t>（</a:t>
            </a:r>
            <a:r>
              <a:rPr lang="en-US" altLang="zh-CN" sz="1800" b="1" dirty="0" err="1">
                <a:solidFill>
                  <a:schemeClr val="tx1"/>
                </a:solidFill>
                <a:latin typeface="+mn-ea"/>
              </a:rPr>
              <a:t>wps</a:t>
            </a:r>
            <a:r>
              <a:rPr lang="zh-CN" altLang="en-US" sz="1800" b="1" dirty="0">
                <a:solidFill>
                  <a:schemeClr val="tx1"/>
                </a:solidFill>
                <a:latin typeface="+mn-ea"/>
              </a:rPr>
              <a:t>文件要另存为</a:t>
            </a:r>
            <a:r>
              <a:rPr lang="en-US" altLang="zh-CN" sz="1800" b="1" dirty="0">
                <a:solidFill>
                  <a:schemeClr val="tx1"/>
                </a:solidFill>
                <a:latin typeface="+mn-ea"/>
              </a:rPr>
              <a:t>doc</a:t>
            </a:r>
            <a:r>
              <a:rPr lang="zh-CN" altLang="en-US" sz="1800" b="1" dirty="0">
                <a:solidFill>
                  <a:schemeClr val="tx1"/>
                </a:solidFill>
                <a:latin typeface="+mn-ea"/>
              </a:rPr>
              <a:t>或</a:t>
            </a:r>
            <a:r>
              <a:rPr lang="en-US" altLang="zh-CN" sz="1800" b="1" dirty="0" err="1">
                <a:solidFill>
                  <a:schemeClr val="tx1"/>
                </a:solidFill>
                <a:latin typeface="+mn-ea"/>
              </a:rPr>
              <a:t>docx</a:t>
            </a:r>
            <a:r>
              <a:rPr lang="zh-CN" altLang="en-US" sz="1800" b="1" dirty="0">
                <a:solidFill>
                  <a:schemeClr val="tx1"/>
                </a:solidFill>
                <a:latin typeface="+mn-ea"/>
              </a:rPr>
              <a:t>才能检测，不可直接修改后缀名） </a:t>
            </a:r>
            <a:endParaRPr lang="en-US" altLang="zh-CN" sz="1800" b="1" dirty="0">
              <a:solidFill>
                <a:schemeClr val="tx1"/>
              </a:solidFill>
              <a:latin typeface="+mn-ea"/>
            </a:endParaRPr>
          </a:p>
          <a:p>
            <a:pPr marL="0" indent="0">
              <a:lnSpc>
                <a:spcPct val="150000"/>
              </a:lnSpc>
              <a:buNone/>
            </a:pPr>
            <a:r>
              <a:rPr lang="zh-CN" altLang="en-US" sz="1800" b="1" dirty="0">
                <a:solidFill>
                  <a:srgbClr val="C00000"/>
                </a:solidFill>
                <a:latin typeface="+mn-ea"/>
              </a:rPr>
              <a:t>     系统查重是必需的步骤，一定要用一次系统内查重，否则导师无法审核通过。</a:t>
            </a:r>
            <a:endParaRPr lang="en-US" altLang="zh-CN" sz="1800" b="1" dirty="0">
              <a:solidFill>
                <a:srgbClr val="C00000"/>
              </a:solidFill>
              <a:latin typeface="+mn-ea"/>
            </a:endParaRPr>
          </a:p>
          <a:p>
            <a:pPr>
              <a:lnSpc>
                <a:spcPct val="150000"/>
              </a:lnSpc>
            </a:pPr>
            <a:r>
              <a:rPr lang="zh-CN" altLang="en-US" sz="1800" b="1" dirty="0">
                <a:solidFill>
                  <a:schemeClr val="tx1"/>
                </a:solidFill>
                <a:latin typeface="+mn-ea"/>
              </a:rPr>
              <a:t>论文提交阶段，</a:t>
            </a:r>
            <a:r>
              <a:rPr lang="zh-CN" altLang="en-US" sz="1800" b="1" dirty="0">
                <a:solidFill>
                  <a:srgbClr val="C00000"/>
                </a:solidFill>
                <a:latin typeface="+mn-ea"/>
              </a:rPr>
              <a:t>每次提交论文均需查重，</a:t>
            </a:r>
            <a:r>
              <a:rPr lang="zh-CN" altLang="en-US" sz="1800" b="1" dirty="0">
                <a:solidFill>
                  <a:schemeClr val="tx1"/>
                </a:solidFill>
                <a:latin typeface="+mn-ea"/>
              </a:rPr>
              <a:t>但是超出查重次数以外，系统无法自动查重，学生需将检测报告以论文附件的形式上传毕业设计管理系统，以保证最终存档的论文报告与查重报告一致性。 </a:t>
            </a:r>
            <a:endParaRPr lang="en-US" altLang="zh-CN" sz="1800" b="1" dirty="0">
              <a:solidFill>
                <a:schemeClr val="tx1"/>
              </a:solidFill>
              <a:latin typeface="+mn-ea"/>
            </a:endParaRPr>
          </a:p>
          <a:p>
            <a:pPr>
              <a:lnSpc>
                <a:spcPct val="150000"/>
              </a:lnSpc>
            </a:pPr>
            <a:r>
              <a:rPr lang="zh-CN" altLang="en-US" sz="1800" b="1" dirty="0">
                <a:solidFill>
                  <a:schemeClr val="tx1"/>
                </a:solidFill>
                <a:latin typeface="+mn-ea"/>
              </a:rPr>
              <a:t>如果定稿已提交且指导教师审核通过，但仍需对论文修改重新提交的，学生可答辩结束后，在</a:t>
            </a:r>
            <a:r>
              <a:rPr lang="zh-CN" altLang="en-US" sz="1800" b="1" dirty="0">
                <a:solidFill>
                  <a:schemeClr val="tx1"/>
                </a:solidFill>
                <a:latin typeface="+mn-ea"/>
                <a:sym typeface="+mn-ea"/>
              </a:rPr>
              <a:t>“上传论文终稿”上传论文的最终稿。</a:t>
            </a:r>
            <a:endParaRPr lang="zh-CN" altLang="en-US" sz="1800" b="1" dirty="0">
              <a:solidFill>
                <a:schemeClr val="tx1"/>
              </a:solidFill>
              <a:latin typeface="+mn-ea"/>
              <a:sym typeface="+mn-ea"/>
            </a:endParaRPr>
          </a:p>
          <a:p>
            <a:pPr>
              <a:lnSpc>
                <a:spcPct val="150000"/>
              </a:lnSpc>
            </a:pPr>
            <a:r>
              <a:rPr lang="zh-CN" altLang="en-US" sz="1800" b="1" dirty="0">
                <a:solidFill>
                  <a:schemeClr val="tx1"/>
                </a:solidFill>
                <a:latin typeface="+mn-ea"/>
              </a:rPr>
              <a:t>往年查重要求通知可参考：https://jwc.seu.edu.cn/2024/0424/c21681a488726/page.htm</a:t>
            </a:r>
            <a:endParaRPr lang="zh-CN" altLang="en-US" sz="1800" b="1" dirty="0">
              <a:solidFill>
                <a:schemeClr val="tx1"/>
              </a:solidFill>
              <a:latin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6" name="内容占位符 2"/>
          <p:cNvSpPr>
            <a:spLocks noGrp="1"/>
          </p:cNvSpPr>
          <p:nvPr>
            <p:ph sz="half" idx="1"/>
          </p:nvPr>
        </p:nvSpPr>
        <p:spPr>
          <a:xfrm>
            <a:off x="547641" y="1197942"/>
            <a:ext cx="10977154" cy="2019961"/>
          </a:xfrm>
        </p:spPr>
        <p:txBody>
          <a:bodyPr/>
          <a:lstStyle/>
          <a:p>
            <a:pPr eaLnBrk="1" hangingPunct="1">
              <a:spcBef>
                <a:spcPct val="50000"/>
              </a:spcBef>
              <a:buFont typeface="Wingdings" panose="05000000000000000000" pitchFamily="2" charset="2"/>
              <a:buChar char="p"/>
            </a:pPr>
            <a:r>
              <a:rPr lang="zh-CN" altLang="en-US" sz="1800" b="1" dirty="0">
                <a:solidFill>
                  <a:schemeClr val="tx1"/>
                </a:solidFill>
                <a:latin typeface="+mn-ea"/>
              </a:rPr>
              <a:t>抽盲及送审</a:t>
            </a:r>
            <a:endParaRPr lang="en-US" altLang="zh-CN" sz="1800" b="1" dirty="0">
              <a:solidFill>
                <a:schemeClr val="tx1"/>
              </a:solidFill>
              <a:latin typeface="+mn-ea"/>
            </a:endParaRPr>
          </a:p>
          <a:p>
            <a:pPr eaLnBrk="1" hangingPunct="1">
              <a:spcBef>
                <a:spcPct val="50000"/>
              </a:spcBef>
            </a:pPr>
            <a:r>
              <a:rPr lang="zh-CN" altLang="en-US" sz="1800" b="1" dirty="0">
                <a:solidFill>
                  <a:schemeClr val="tx1"/>
                </a:solidFill>
                <a:latin typeface="+mn-ea"/>
              </a:rPr>
              <a:t>时间：论文定稿提交后，一般在</a:t>
            </a:r>
            <a:r>
              <a:rPr lang="en-US" altLang="zh-CN" sz="1800" b="1" dirty="0">
                <a:solidFill>
                  <a:schemeClr val="tx1"/>
                </a:solidFill>
                <a:latin typeface="+mn-ea"/>
              </a:rPr>
              <a:t>6</a:t>
            </a:r>
            <a:r>
              <a:rPr lang="zh-CN" altLang="en-US" sz="1800" b="1" dirty="0">
                <a:solidFill>
                  <a:schemeClr val="tx1"/>
                </a:solidFill>
                <a:latin typeface="+mn-ea"/>
              </a:rPr>
              <a:t>月初，具体等学校通知。</a:t>
            </a:r>
            <a:endParaRPr lang="zh-CN" altLang="en-US" sz="1800" b="1" dirty="0">
              <a:solidFill>
                <a:schemeClr val="tx1"/>
              </a:solidFill>
              <a:latin typeface="+mn-ea"/>
            </a:endParaRPr>
          </a:p>
          <a:p>
            <a:pPr eaLnBrk="1" hangingPunct="1">
              <a:spcBef>
                <a:spcPct val="50000"/>
              </a:spcBef>
            </a:pPr>
            <a:r>
              <a:rPr lang="zh-CN" altLang="en-US" sz="1800" b="1" dirty="0">
                <a:solidFill>
                  <a:schemeClr val="tx1"/>
                </a:solidFill>
                <a:latin typeface="+mn-ea"/>
              </a:rPr>
              <a:t>流程：教务处组织抽取盲审名单，抽中的同学按要求提交盲审材料送审。盲审不合格论文不得参加后续答辩，整改后再次送审。</a:t>
            </a:r>
            <a:endParaRPr lang="zh-CN" altLang="en-US" sz="1800" b="1" dirty="0">
              <a:solidFill>
                <a:schemeClr val="tx1"/>
              </a:solidFill>
              <a:latin typeface="+mn-ea"/>
            </a:endParaRPr>
          </a:p>
        </p:txBody>
      </p:sp>
      <p:sp>
        <p:nvSpPr>
          <p:cNvPr id="7" name="标题 1"/>
          <p:cNvSpPr txBox="1"/>
          <p:nvPr/>
        </p:nvSpPr>
        <p:spPr bwMode="auto">
          <a:xfrm>
            <a:off x="0" y="0"/>
            <a:ext cx="12192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indent="180975" algn="l" rtl="0" eaLnBrk="0" fontAlgn="base" hangingPunct="0">
              <a:spcBef>
                <a:spcPct val="0"/>
              </a:spcBef>
              <a:spcAft>
                <a:spcPct val="0"/>
              </a:spcAft>
              <a:defRPr sz="3600" b="1">
                <a:solidFill>
                  <a:schemeClr val="accent3">
                    <a:lumMod val="75000"/>
                  </a:schemeClr>
                </a:solidFill>
                <a:latin typeface="+mj-lt"/>
                <a:ea typeface="+mj-ea"/>
                <a:cs typeface="+mj-cs"/>
              </a:defRPr>
            </a:lvl1pPr>
            <a:lvl2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2pPr>
            <a:lvl3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3pPr>
            <a:lvl4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4pPr>
            <a:lvl5pPr indent="180975" algn="l" rtl="0" eaLnBrk="0" fontAlgn="base" hangingPunct="0">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5pPr>
            <a:lvl6pPr marL="4572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6pPr>
            <a:lvl7pPr marL="9144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7pPr>
            <a:lvl8pPr marL="13716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8pPr>
            <a:lvl9pPr marL="1828800" indent="180975" algn="l" rtl="0" fontAlgn="base">
              <a:spcBef>
                <a:spcPct val="0"/>
              </a:spcBef>
              <a:spcAft>
                <a:spcPct val="0"/>
              </a:spcAft>
              <a:defRPr sz="3600" b="1">
                <a:solidFill>
                  <a:srgbClr val="003300"/>
                </a:solidFill>
                <a:latin typeface="Times New Roman" panose="02020603050405020304" pitchFamily="18" charset="0"/>
                <a:ea typeface="微软雅黑" panose="020B0503020204020204" pitchFamily="34" charset="-122"/>
              </a:defRPr>
            </a:lvl9pPr>
          </a:lstStyle>
          <a:p>
            <a:r>
              <a:rPr lang="zh-CN" altLang="en-US" sz="2800" kern="0" dirty="0">
                <a:solidFill>
                  <a:schemeClr val="tx1"/>
                </a:solidFill>
                <a:latin typeface="+mn-ea"/>
                <a:ea typeface="+mn-ea"/>
              </a:rPr>
              <a:t>论文盲审及答辩</a:t>
            </a:r>
            <a:endParaRPr lang="zh-CN" altLang="en-US" sz="2800" kern="0" dirty="0">
              <a:solidFill>
                <a:schemeClr val="tx1"/>
              </a:solidFill>
              <a:latin typeface="+mn-ea"/>
              <a:ea typeface="+mn-ea"/>
            </a:endParaRPr>
          </a:p>
        </p:txBody>
      </p:sp>
      <p:sp>
        <p:nvSpPr>
          <p:cNvPr id="8" name="内容占位符 2"/>
          <p:cNvSpPr txBox="1"/>
          <p:nvPr/>
        </p:nvSpPr>
        <p:spPr bwMode="auto">
          <a:xfrm>
            <a:off x="547641" y="2867700"/>
            <a:ext cx="10937966" cy="3434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800">
                <a:solidFill>
                  <a:schemeClr val="tx2">
                    <a:lumMod val="75000"/>
                  </a:schemeClr>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2">
                    <a:lumMod val="75000"/>
                  </a:schemeClr>
                </a:solidFill>
                <a:latin typeface="+mn-lt"/>
                <a:ea typeface="+mn-ea"/>
              </a:defRPr>
            </a:lvl2pPr>
            <a:lvl3pPr marL="1143000" indent="-228600" algn="l" rtl="0" eaLnBrk="0" fontAlgn="base" hangingPunct="0">
              <a:spcBef>
                <a:spcPct val="20000"/>
              </a:spcBef>
              <a:spcAft>
                <a:spcPct val="0"/>
              </a:spcAft>
              <a:buChar char="•"/>
              <a:defRPr sz="2000">
                <a:solidFill>
                  <a:schemeClr val="tx2">
                    <a:lumMod val="75000"/>
                  </a:schemeClr>
                </a:solidFill>
                <a:latin typeface="+mn-lt"/>
                <a:ea typeface="+mn-ea"/>
              </a:defRPr>
            </a:lvl3pPr>
            <a:lvl4pPr marL="1600200" indent="-228600" algn="l" rtl="0" eaLnBrk="0" fontAlgn="base" hangingPunct="0">
              <a:spcBef>
                <a:spcPct val="20000"/>
              </a:spcBef>
              <a:spcAft>
                <a:spcPct val="0"/>
              </a:spcAft>
              <a:buChar char="–"/>
              <a:defRPr sz="1800">
                <a:solidFill>
                  <a:schemeClr val="tx2">
                    <a:lumMod val="75000"/>
                  </a:schemeClr>
                </a:solidFill>
                <a:latin typeface="+mn-lt"/>
                <a:ea typeface="+mn-ea"/>
              </a:defRPr>
            </a:lvl4pPr>
            <a:lvl5pPr marL="2057400" indent="-228600" algn="l" rtl="0" eaLnBrk="0" fontAlgn="base" hangingPunct="0">
              <a:spcBef>
                <a:spcPct val="20000"/>
              </a:spcBef>
              <a:spcAft>
                <a:spcPct val="0"/>
              </a:spcAft>
              <a:buChar char="»"/>
              <a:defRPr sz="1800">
                <a:solidFill>
                  <a:schemeClr val="tx2">
                    <a:lumMod val="75000"/>
                  </a:schemeClr>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pPr eaLnBrk="1" hangingPunct="1">
              <a:spcBef>
                <a:spcPct val="50000"/>
              </a:spcBef>
              <a:buFont typeface="Wingdings" panose="05000000000000000000" pitchFamily="2" charset="2"/>
              <a:buChar char="p"/>
            </a:pPr>
            <a:r>
              <a:rPr lang="zh-CN" altLang="en-US" sz="1800" b="1" kern="0" dirty="0">
                <a:solidFill>
                  <a:schemeClr val="tx1"/>
                </a:solidFill>
                <a:latin typeface="+mn-ea"/>
              </a:rPr>
              <a:t>答辩</a:t>
            </a:r>
            <a:endParaRPr lang="en-US" altLang="zh-CN" sz="1800" b="1" kern="0" dirty="0">
              <a:solidFill>
                <a:schemeClr val="tx1"/>
              </a:solidFill>
              <a:latin typeface="+mn-ea"/>
            </a:endParaRPr>
          </a:p>
          <a:p>
            <a:pPr eaLnBrk="1" hangingPunct="1">
              <a:spcBef>
                <a:spcPct val="50000"/>
              </a:spcBef>
            </a:pPr>
            <a:r>
              <a:rPr lang="zh-CN" altLang="en-US" sz="1800" b="1" kern="0" dirty="0">
                <a:solidFill>
                  <a:schemeClr val="tx1"/>
                </a:solidFill>
                <a:latin typeface="+mn-ea"/>
              </a:rPr>
              <a:t>时间：一般在</a:t>
            </a:r>
            <a:r>
              <a:rPr lang="en-US" altLang="zh-CN" sz="1800" b="1" kern="0" dirty="0">
                <a:solidFill>
                  <a:schemeClr val="tx1"/>
                </a:solidFill>
                <a:latin typeface="+mn-ea"/>
              </a:rPr>
              <a:t>6</a:t>
            </a:r>
            <a:r>
              <a:rPr lang="zh-CN" altLang="en-US" sz="1800" b="1" kern="0" dirty="0">
                <a:solidFill>
                  <a:schemeClr val="tx1"/>
                </a:solidFill>
                <a:latin typeface="+mn-ea"/>
              </a:rPr>
              <a:t>月初，具体等学校通知。</a:t>
            </a:r>
            <a:endParaRPr lang="zh-CN" altLang="en-US" sz="1800" b="1" kern="0" dirty="0">
              <a:solidFill>
                <a:schemeClr val="tx1"/>
              </a:solidFill>
              <a:latin typeface="+mn-ea"/>
            </a:endParaRPr>
          </a:p>
          <a:p>
            <a:pPr eaLnBrk="1" hangingPunct="1">
              <a:spcBef>
                <a:spcPct val="50000"/>
              </a:spcBef>
            </a:pPr>
            <a:r>
              <a:rPr lang="zh-CN" altLang="en-US" sz="1800" b="1" kern="0" dirty="0">
                <a:solidFill>
                  <a:schemeClr val="tx1"/>
                </a:solidFill>
                <a:latin typeface="+mn-ea"/>
              </a:rPr>
              <a:t>流程：各学科分别组织答辩工作。</a:t>
            </a:r>
            <a:endParaRPr lang="en-US" altLang="zh-CN" sz="1800" b="1" kern="0" dirty="0">
              <a:solidFill>
                <a:schemeClr val="tx1"/>
              </a:solidFill>
              <a:latin typeface="+mn-ea"/>
            </a:endParaRPr>
          </a:p>
          <a:p>
            <a:pPr eaLnBrk="1" hangingPunct="1">
              <a:spcBef>
                <a:spcPct val="50000"/>
              </a:spcBef>
            </a:pPr>
            <a:r>
              <a:rPr lang="zh-CN" altLang="en-US" sz="1800" b="1" kern="0" dirty="0">
                <a:solidFill>
                  <a:schemeClr val="tx1"/>
                </a:solidFill>
                <a:latin typeface="+mn-ea"/>
              </a:rPr>
              <a:t>盲审的同学要等盲审意见合格方可参加答辩。</a:t>
            </a:r>
            <a:endParaRPr lang="zh-CN" altLang="en-US" sz="1800" b="1" kern="0" dirty="0">
              <a:solidFill>
                <a:schemeClr val="tx1"/>
              </a:solidFill>
              <a:latin typeface="+mn-ea"/>
            </a:endParaRPr>
          </a:p>
          <a:p>
            <a:pPr eaLnBrk="1" hangingPunct="1">
              <a:spcBef>
                <a:spcPct val="50000"/>
              </a:spcBef>
            </a:pPr>
            <a:r>
              <a:rPr lang="zh-CN" altLang="en-US" sz="1800" b="1" kern="0" dirty="0">
                <a:solidFill>
                  <a:schemeClr val="tx1"/>
                </a:solidFill>
                <a:latin typeface="+mn-ea"/>
              </a:rPr>
              <a:t>校外、院外毕设同学都要在</a:t>
            </a:r>
            <a:r>
              <a:rPr lang="zh-CN" altLang="en-US" sz="1800" b="1" kern="0" dirty="0">
                <a:solidFill>
                  <a:srgbClr val="C00000"/>
                </a:solidFill>
                <a:latin typeface="+mn-ea"/>
              </a:rPr>
              <a:t>信息</a:t>
            </a:r>
            <a:r>
              <a:rPr lang="zh-CN" altLang="en-US" sz="1800" b="1" kern="0" dirty="0">
                <a:solidFill>
                  <a:srgbClr val="C00000"/>
                </a:solidFill>
                <a:latin typeface="+mn-ea"/>
              </a:rPr>
              <a:t>学院</a:t>
            </a:r>
            <a:r>
              <a:rPr lang="zh-CN" altLang="en-US" sz="1800" b="1" kern="0" dirty="0">
                <a:solidFill>
                  <a:schemeClr val="tx1"/>
                </a:solidFill>
                <a:latin typeface="+mn-ea"/>
              </a:rPr>
              <a:t>指导</a:t>
            </a:r>
            <a:r>
              <a:rPr lang="zh-CN" altLang="en-US" sz="1800" b="1" kern="0" dirty="0">
                <a:solidFill>
                  <a:schemeClr val="tx1"/>
                </a:solidFill>
                <a:latin typeface="+mn-ea"/>
              </a:rPr>
              <a:t>老师学科组参加答辩。</a:t>
            </a:r>
            <a:endParaRPr lang="en-US" altLang="zh-CN" sz="1800" b="1" kern="0" dirty="0">
              <a:solidFill>
                <a:schemeClr val="tx1"/>
              </a:solidFill>
              <a:latin typeface="+mn-ea"/>
            </a:endParaRPr>
          </a:p>
          <a:p>
            <a:r>
              <a:rPr lang="zh-CN" altLang="en-US" sz="1800" b="1" kern="0" dirty="0">
                <a:solidFill>
                  <a:schemeClr val="tx1"/>
                </a:solidFill>
                <a:latin typeface="+mn-ea"/>
              </a:rPr>
              <a:t>学生如第一批答辩未通过或未参加，可申请参加第二批答辩。如第二批答辩仍未通过或未参加，毕业设计（论文）成绩记为“不及格”。 </a:t>
            </a:r>
            <a:endParaRPr lang="en-US" altLang="zh-CN" sz="1800" b="1" kern="0" dirty="0">
              <a:solidFill>
                <a:schemeClr val="tx1"/>
              </a:solidFill>
              <a:latin typeface="+mn-ea"/>
            </a:endParaRPr>
          </a:p>
          <a:p>
            <a:r>
              <a:rPr lang="zh-CN" altLang="en-US" sz="1800" b="1" kern="0" dirty="0">
                <a:solidFill>
                  <a:schemeClr val="tx1"/>
                </a:solidFill>
                <a:latin typeface="+mn-ea"/>
              </a:rPr>
              <a:t>成绩评定： 由指导教师、评阅教师及答辩组三方打分构成，三者评分在总成绩中的比例为</a:t>
            </a:r>
            <a:r>
              <a:rPr lang="en-US" altLang="zh-CN" sz="1800" b="1" kern="0" dirty="0">
                <a:solidFill>
                  <a:schemeClr val="tx1"/>
                </a:solidFill>
                <a:latin typeface="+mn-ea"/>
              </a:rPr>
              <a:t>3:3:4</a:t>
            </a:r>
            <a:r>
              <a:rPr lang="zh-CN" altLang="en-US" sz="1800" b="1" kern="0" dirty="0">
                <a:solidFill>
                  <a:schemeClr val="tx1"/>
                </a:solidFill>
                <a:latin typeface="+mn-ea"/>
              </a:rPr>
              <a:t>。 </a:t>
            </a:r>
            <a:br>
              <a:rPr lang="zh-CN" altLang="en-US" sz="1800" b="1" kern="0" dirty="0">
                <a:solidFill>
                  <a:schemeClr val="tx1"/>
                </a:solidFill>
                <a:latin typeface="+mn-ea"/>
              </a:rPr>
            </a:br>
            <a:r>
              <a:rPr lang="zh-CN" altLang="en-US" sz="1800" b="1" kern="0" dirty="0">
                <a:solidFill>
                  <a:srgbClr val="C00000"/>
                </a:solidFill>
                <a:latin typeface="+mn-ea"/>
              </a:rPr>
              <a:t>毕业设计成绩合格的标准为： 总成绩≥</a:t>
            </a:r>
            <a:r>
              <a:rPr lang="en-US" altLang="zh-CN" sz="1800" b="1" kern="0" dirty="0">
                <a:solidFill>
                  <a:srgbClr val="C00000"/>
                </a:solidFill>
                <a:latin typeface="+mn-ea"/>
              </a:rPr>
              <a:t>60</a:t>
            </a:r>
            <a:r>
              <a:rPr lang="zh-CN" altLang="en-US" sz="1800" b="1" kern="0" dirty="0">
                <a:solidFill>
                  <a:srgbClr val="C00000"/>
                </a:solidFill>
                <a:latin typeface="+mn-ea"/>
              </a:rPr>
              <a:t>分，且答辩成绩≥</a:t>
            </a:r>
            <a:r>
              <a:rPr lang="en-US" altLang="zh-CN" sz="1800" b="1" kern="0" dirty="0">
                <a:solidFill>
                  <a:srgbClr val="C00000"/>
                </a:solidFill>
                <a:latin typeface="+mn-ea"/>
              </a:rPr>
              <a:t>60</a:t>
            </a:r>
            <a:r>
              <a:rPr lang="zh-CN" altLang="en-US" sz="1800" b="1" kern="0" dirty="0">
                <a:solidFill>
                  <a:srgbClr val="C00000"/>
                </a:solidFill>
                <a:latin typeface="+mn-ea"/>
              </a:rPr>
              <a:t>分 </a:t>
            </a:r>
            <a:endParaRPr lang="en-US" altLang="zh-CN" sz="1800" b="1" kern="0" dirty="0">
              <a:solidFill>
                <a:srgbClr val="C00000"/>
              </a:solidFill>
              <a:latin typeface="+mn-ea"/>
            </a:endParaRPr>
          </a:p>
          <a:p>
            <a:endParaRPr lang="zh-CN" altLang="en-US" sz="1800" b="1" kern="0" dirty="0">
              <a:solidFill>
                <a:schemeClr val="tx1"/>
              </a:solidFill>
              <a:latin typeface="+mn-ea"/>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mn-ea"/>
                <a:ea typeface="+mn-ea"/>
              </a:rPr>
              <a:t>论文归档及上报</a:t>
            </a:r>
            <a:endParaRPr lang="zh-CN" altLang="en-US" sz="2800" dirty="0">
              <a:solidFill>
                <a:schemeClr val="tx1"/>
              </a:solidFill>
              <a:latin typeface="+mn-ea"/>
              <a:ea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6" name="内容占位符 2"/>
          <p:cNvSpPr txBox="1"/>
          <p:nvPr/>
        </p:nvSpPr>
        <p:spPr bwMode="auto">
          <a:xfrm>
            <a:off x="516625" y="1256614"/>
            <a:ext cx="10937966" cy="5232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800">
                <a:solidFill>
                  <a:schemeClr val="tx2">
                    <a:lumMod val="75000"/>
                  </a:schemeClr>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2">
                    <a:lumMod val="75000"/>
                  </a:schemeClr>
                </a:solidFill>
                <a:latin typeface="+mn-lt"/>
                <a:ea typeface="+mn-ea"/>
              </a:defRPr>
            </a:lvl2pPr>
            <a:lvl3pPr marL="1143000" indent="-228600" algn="l" rtl="0" eaLnBrk="0" fontAlgn="base" hangingPunct="0">
              <a:spcBef>
                <a:spcPct val="20000"/>
              </a:spcBef>
              <a:spcAft>
                <a:spcPct val="0"/>
              </a:spcAft>
              <a:buChar char="•"/>
              <a:defRPr sz="2000">
                <a:solidFill>
                  <a:schemeClr val="tx2">
                    <a:lumMod val="75000"/>
                  </a:schemeClr>
                </a:solidFill>
                <a:latin typeface="+mn-lt"/>
                <a:ea typeface="+mn-ea"/>
              </a:defRPr>
            </a:lvl3pPr>
            <a:lvl4pPr marL="1600200" indent="-228600" algn="l" rtl="0" eaLnBrk="0" fontAlgn="base" hangingPunct="0">
              <a:spcBef>
                <a:spcPct val="20000"/>
              </a:spcBef>
              <a:spcAft>
                <a:spcPct val="0"/>
              </a:spcAft>
              <a:buChar char="–"/>
              <a:defRPr sz="1800">
                <a:solidFill>
                  <a:schemeClr val="tx2">
                    <a:lumMod val="75000"/>
                  </a:schemeClr>
                </a:solidFill>
                <a:latin typeface="+mn-lt"/>
                <a:ea typeface="+mn-ea"/>
              </a:defRPr>
            </a:lvl4pPr>
            <a:lvl5pPr marL="2057400" indent="-228600" algn="l" rtl="0" eaLnBrk="0" fontAlgn="base" hangingPunct="0">
              <a:spcBef>
                <a:spcPct val="20000"/>
              </a:spcBef>
              <a:spcAft>
                <a:spcPct val="0"/>
              </a:spcAft>
              <a:buChar char="»"/>
              <a:defRPr sz="1800">
                <a:solidFill>
                  <a:schemeClr val="tx2">
                    <a:lumMod val="75000"/>
                  </a:schemeClr>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pPr eaLnBrk="1" hangingPunct="1">
              <a:spcBef>
                <a:spcPct val="50000"/>
              </a:spcBef>
            </a:pPr>
            <a:r>
              <a:rPr lang="zh-CN" altLang="en-US" sz="1800" b="1" kern="0" dirty="0">
                <a:solidFill>
                  <a:schemeClr val="tx1"/>
                </a:solidFill>
                <a:latin typeface="+mn-ea"/>
              </a:rPr>
              <a:t>时间：答辩后根据专家意见修改论文，答辩结束一周内完成。</a:t>
            </a:r>
            <a:endParaRPr lang="zh-CN" altLang="en-US" sz="1800" b="1" kern="0" dirty="0">
              <a:solidFill>
                <a:schemeClr val="tx1"/>
              </a:solidFill>
              <a:latin typeface="+mn-ea"/>
            </a:endParaRPr>
          </a:p>
          <a:p>
            <a:pPr eaLnBrk="1" hangingPunct="1">
              <a:spcBef>
                <a:spcPct val="50000"/>
              </a:spcBef>
              <a:buFont typeface="Wingdings" panose="05000000000000000000" pitchFamily="2" charset="2"/>
              <a:buChar char="p"/>
            </a:pPr>
            <a:r>
              <a:rPr lang="zh-CN" altLang="en-US" sz="1800" b="1" kern="0" dirty="0">
                <a:solidFill>
                  <a:schemeClr val="tx1"/>
                </a:solidFill>
                <a:latin typeface="+mn-ea"/>
              </a:rPr>
              <a:t>纸质材料：</a:t>
            </a:r>
            <a:endParaRPr lang="en-US" altLang="zh-CN" sz="1800" b="1" kern="0" dirty="0">
              <a:solidFill>
                <a:schemeClr val="tx1"/>
              </a:solidFill>
              <a:latin typeface="+mn-ea"/>
            </a:endParaRPr>
          </a:p>
          <a:p>
            <a:pPr marL="400050" lvl="1" indent="0" eaLnBrk="1" hangingPunct="1">
              <a:spcBef>
                <a:spcPct val="50000"/>
              </a:spcBef>
              <a:buNone/>
            </a:pPr>
            <a:r>
              <a:rPr lang="zh-CN" altLang="en-US" sz="1600" b="1" kern="0" dirty="0">
                <a:solidFill>
                  <a:schemeClr val="tx1"/>
                </a:solidFill>
                <a:latin typeface="+mn-ea"/>
              </a:rPr>
              <a:t>①毕业设计报告（论文）：封面统一使用“淡蓝色”</a:t>
            </a:r>
            <a:r>
              <a:rPr lang="en-US" altLang="zh-CN" sz="1600" b="1" kern="0" dirty="0">
                <a:solidFill>
                  <a:schemeClr val="tx1"/>
                </a:solidFill>
                <a:latin typeface="+mn-ea"/>
              </a:rPr>
              <a:t>180 </a:t>
            </a:r>
            <a:r>
              <a:rPr lang="zh-CN" altLang="en-US" sz="1600" b="1" kern="0" dirty="0">
                <a:solidFill>
                  <a:schemeClr val="tx1"/>
                </a:solidFill>
                <a:latin typeface="+mn-ea"/>
              </a:rPr>
              <a:t>克纸打印胶装；独创性声明上论文作者和指导老师都必须签字；</a:t>
            </a:r>
            <a:r>
              <a:rPr lang="en-US" altLang="zh-CN" sz="1600" b="1" kern="0" dirty="0">
                <a:solidFill>
                  <a:schemeClr val="tx1"/>
                </a:solidFill>
                <a:latin typeface="+mn-ea"/>
              </a:rPr>
              <a:t>AI</a:t>
            </a:r>
            <a:r>
              <a:rPr lang="zh-CN" altLang="en-US" sz="1600" b="1" kern="0" dirty="0">
                <a:solidFill>
                  <a:schemeClr val="tx1"/>
                </a:solidFill>
                <a:latin typeface="+mn-ea"/>
              </a:rPr>
              <a:t>工具使用情况表每位学生均需填写，填写后，请一起装订在论文文本中（放置在：论文独创性声明之后，摘要之前），学生及指导老师均需要签字。</a:t>
            </a:r>
            <a:endParaRPr lang="zh-CN" altLang="en-US" sz="1600" b="1" kern="0" dirty="0">
              <a:solidFill>
                <a:schemeClr val="tx1"/>
              </a:solidFill>
              <a:latin typeface="+mn-ea"/>
            </a:endParaRPr>
          </a:p>
          <a:p>
            <a:pPr marL="400050" lvl="1" indent="0" eaLnBrk="1" hangingPunct="1">
              <a:spcBef>
                <a:spcPct val="50000"/>
              </a:spcBef>
              <a:buNone/>
            </a:pPr>
            <a:r>
              <a:rPr lang="zh-CN" altLang="en-US" sz="1600" b="1" kern="0" dirty="0">
                <a:solidFill>
                  <a:schemeClr val="tx1"/>
                </a:solidFill>
                <a:latin typeface="+mn-ea"/>
              </a:rPr>
              <a:t>②软件代码和硬件演示视频刻盘保存一下，粘贴在纸质论文封底内；</a:t>
            </a:r>
            <a:endParaRPr lang="zh-CN" altLang="en-US" sz="1600" b="1" kern="0" dirty="0">
              <a:solidFill>
                <a:schemeClr val="tx1"/>
              </a:solidFill>
              <a:latin typeface="+mn-ea"/>
            </a:endParaRPr>
          </a:p>
          <a:p>
            <a:pPr eaLnBrk="1" hangingPunct="1">
              <a:spcBef>
                <a:spcPct val="50000"/>
              </a:spcBef>
              <a:buFont typeface="Wingdings" panose="05000000000000000000" pitchFamily="2" charset="2"/>
              <a:buChar char="p"/>
            </a:pPr>
            <a:r>
              <a:rPr lang="zh-CN" altLang="en-US" sz="1800" b="1" kern="0" dirty="0">
                <a:solidFill>
                  <a:schemeClr val="tx1"/>
                </a:solidFill>
                <a:latin typeface="+mn-ea"/>
              </a:rPr>
              <a:t>电子材料：</a:t>
            </a:r>
            <a:endParaRPr lang="en-US" altLang="zh-CN" sz="1800" b="1" kern="0" dirty="0">
              <a:solidFill>
                <a:schemeClr val="tx1"/>
              </a:solidFill>
              <a:latin typeface="+mn-ea"/>
            </a:endParaRPr>
          </a:p>
          <a:p>
            <a:pPr marL="400050" lvl="1" indent="0" eaLnBrk="1" hangingPunct="1">
              <a:spcBef>
                <a:spcPct val="50000"/>
              </a:spcBef>
              <a:buNone/>
            </a:pPr>
            <a:r>
              <a:rPr lang="zh-CN" altLang="en-US" sz="1600" b="1" kern="0" dirty="0">
                <a:solidFill>
                  <a:schemeClr val="tx1"/>
                </a:solidFill>
                <a:latin typeface="+mn-ea"/>
              </a:rPr>
              <a:t>①在毕设管理系统中通过“上传论文终稿”上传论文的最终稿，论文附件（与论文相关图片、图纸、视频材料），简版查重报告等支撑材料。</a:t>
            </a:r>
            <a:r>
              <a:rPr lang="zh-CN" altLang="zh-CN" sz="1600" b="1" kern="0" dirty="0">
                <a:solidFill>
                  <a:schemeClr val="tx1"/>
                </a:solidFill>
                <a:latin typeface="+mn-ea"/>
              </a:rPr>
              <a:t>论文终稿中毕业设计（论文）文本中独创性声明、论文使用授权声明及</a:t>
            </a:r>
            <a:r>
              <a:rPr lang="en-US" altLang="zh-CN" sz="1600" b="1" kern="0" dirty="0">
                <a:solidFill>
                  <a:schemeClr val="tx1"/>
                </a:solidFill>
                <a:latin typeface="+mn-ea"/>
              </a:rPr>
              <a:t>AI</a:t>
            </a:r>
            <a:r>
              <a:rPr lang="zh-CN" altLang="zh-CN" sz="1600" b="1" kern="0" dirty="0">
                <a:solidFill>
                  <a:schemeClr val="tx1"/>
                </a:solidFill>
                <a:latin typeface="+mn-ea"/>
              </a:rPr>
              <a:t>工具使用情况说明表中本人签字及指导教师签字处需签名后扫描上传。</a:t>
            </a:r>
            <a:endParaRPr lang="en-US" altLang="zh-CN" sz="1600" b="1" kern="0" dirty="0">
              <a:solidFill>
                <a:schemeClr val="tx1"/>
              </a:solidFill>
              <a:latin typeface="+mn-ea"/>
            </a:endParaRPr>
          </a:p>
          <a:p>
            <a:pPr marL="400050" lvl="1" indent="0" eaLnBrk="1" hangingPunct="1">
              <a:spcBef>
                <a:spcPct val="50000"/>
              </a:spcBef>
              <a:buNone/>
            </a:pPr>
            <a:r>
              <a:rPr lang="zh-CN" altLang="en-US" sz="1600" b="1" kern="0" dirty="0">
                <a:solidFill>
                  <a:schemeClr val="tx1"/>
                </a:solidFill>
                <a:latin typeface="+mn-ea"/>
              </a:rPr>
              <a:t>②学生论文信息（课题名称、指导教师、论文题目、关键词、研究方向、撰写语种）核对，学校统一上报学信网。</a:t>
            </a:r>
            <a:endParaRPr lang="zh-CN" altLang="en-US" sz="1600" b="1" kern="0" dirty="0">
              <a:solidFill>
                <a:schemeClr val="tx1"/>
              </a:solidFill>
              <a:latin typeface="+mn-ea"/>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solidFill>
                  <a:schemeClr val="tx1"/>
                </a:solidFill>
                <a:latin typeface="+mn-ea"/>
                <a:ea typeface="+mn-ea"/>
              </a:rPr>
              <a:t>论文模板</a:t>
            </a:r>
            <a:endParaRPr lang="zh-CN" altLang="en-US" sz="2800" dirty="0">
              <a:solidFill>
                <a:schemeClr val="tx1"/>
              </a:solidFill>
              <a:latin typeface="+mn-ea"/>
              <a:ea typeface="+mn-ea"/>
            </a:endParaRPr>
          </a:p>
        </p:txBody>
      </p:sp>
      <p:sp>
        <p:nvSpPr>
          <p:cNvPr id="3" name="内容占位符 2"/>
          <p:cNvSpPr>
            <a:spLocks noGrp="1"/>
          </p:cNvSpPr>
          <p:nvPr>
            <p:ph sz="half" idx="1"/>
          </p:nvPr>
        </p:nvSpPr>
        <p:spPr>
          <a:xfrm>
            <a:off x="200757" y="948807"/>
            <a:ext cx="11790485" cy="1612556"/>
          </a:xfrm>
        </p:spPr>
        <p:txBody>
          <a:bodyPr/>
          <a:lstStyle/>
          <a:p>
            <a:pPr>
              <a:lnSpc>
                <a:spcPts val="2000"/>
              </a:lnSpc>
            </a:pPr>
            <a:r>
              <a:rPr lang="zh-CN" altLang="en-US" sz="1800" b="1" dirty="0">
                <a:solidFill>
                  <a:schemeClr val="tx1"/>
                </a:solidFill>
                <a:latin typeface="+mn-ea"/>
              </a:rPr>
              <a:t>论文统一按照“东南大学本科生毕业设计（论文）撰写规范</a:t>
            </a:r>
            <a:r>
              <a:rPr lang="en-US" sz="1800" b="1" dirty="0">
                <a:solidFill>
                  <a:schemeClr val="tx1"/>
                </a:solidFill>
                <a:latin typeface="+mn-ea"/>
              </a:rPr>
              <a:t> </a:t>
            </a:r>
            <a:r>
              <a:rPr lang="zh-CN" altLang="en-US" sz="1800" b="1" dirty="0">
                <a:solidFill>
                  <a:schemeClr val="tx1"/>
                </a:solidFill>
                <a:latin typeface="+mn-ea"/>
              </a:rPr>
              <a:t>”文件规定进行撰写。该文件在毕业设计管理系统主页可以下载。</a:t>
            </a:r>
            <a:endParaRPr lang="en-US" altLang="zh-CN" sz="1800" b="1" dirty="0">
              <a:solidFill>
                <a:schemeClr val="tx1"/>
              </a:solidFill>
              <a:latin typeface="+mn-ea"/>
            </a:endParaRPr>
          </a:p>
          <a:p>
            <a:pPr>
              <a:lnSpc>
                <a:spcPts val="2000"/>
              </a:lnSpc>
            </a:pPr>
            <a:r>
              <a:rPr lang="en-US" altLang="zh-CN" sz="1800" b="1" dirty="0">
                <a:solidFill>
                  <a:schemeClr val="tx1"/>
                </a:solidFill>
                <a:latin typeface="+mn-ea"/>
              </a:rPr>
              <a:t>AI</a:t>
            </a:r>
            <a:r>
              <a:rPr lang="zh-CN" altLang="en-US" sz="1800" b="1" dirty="0">
                <a:solidFill>
                  <a:schemeClr val="tx1"/>
                </a:solidFill>
                <a:latin typeface="+mn-ea"/>
              </a:rPr>
              <a:t>工具使用情况表、独创性声明放在中文摘要前面。纸质版和终稿电子版论文作者和指导老师都必须签字。</a:t>
            </a:r>
            <a:endParaRPr lang="en-US" altLang="zh-CN" sz="1800" b="1" dirty="0">
              <a:solidFill>
                <a:schemeClr val="tx1"/>
              </a:solidFill>
              <a:latin typeface="+mn-ea"/>
            </a:endParaRPr>
          </a:p>
          <a:p>
            <a:pPr>
              <a:lnSpc>
                <a:spcPts val="2000"/>
              </a:lnSpc>
            </a:pPr>
            <a:r>
              <a:rPr lang="zh-CN" altLang="en-US" sz="1800" b="1" dirty="0">
                <a:solidFill>
                  <a:schemeClr val="tx1"/>
                </a:solidFill>
                <a:latin typeface="+mn-ea"/>
              </a:rPr>
              <a:t>论文中所有公式、图、表，都必须逐章单独编序（如：表</a:t>
            </a:r>
            <a:r>
              <a:rPr lang="en-US" sz="1800" b="1" dirty="0">
                <a:solidFill>
                  <a:schemeClr val="tx1"/>
                </a:solidFill>
                <a:latin typeface="+mn-ea"/>
              </a:rPr>
              <a:t>2.1</a:t>
            </a:r>
            <a:r>
              <a:rPr lang="zh-CN" altLang="en-US" sz="1800" b="1" dirty="0">
                <a:solidFill>
                  <a:schemeClr val="tx1"/>
                </a:solidFill>
                <a:latin typeface="+mn-ea"/>
              </a:rPr>
              <a:t>、图</a:t>
            </a:r>
            <a:r>
              <a:rPr lang="en-US" altLang="zh-CN" sz="1800" b="1" dirty="0">
                <a:solidFill>
                  <a:schemeClr val="tx1"/>
                </a:solidFill>
                <a:latin typeface="+mn-ea"/>
              </a:rPr>
              <a:t>3.2</a:t>
            </a:r>
            <a:r>
              <a:rPr lang="zh-CN" altLang="en-US" sz="1800" b="1" dirty="0">
                <a:solidFill>
                  <a:schemeClr val="tx1"/>
                </a:solidFill>
                <a:latin typeface="+mn-ea"/>
              </a:rPr>
              <a:t>），不允许</a:t>
            </a:r>
            <a:r>
              <a:rPr lang="en-US" altLang="zh-CN" sz="1800" b="1" dirty="0">
                <a:solidFill>
                  <a:schemeClr val="tx1"/>
                </a:solidFill>
                <a:latin typeface="+mn-ea"/>
              </a:rPr>
              <a:t>(</a:t>
            </a:r>
            <a:r>
              <a:rPr lang="zh-CN" altLang="en-US" sz="1800" b="1" dirty="0">
                <a:solidFill>
                  <a:schemeClr val="tx1"/>
                </a:solidFill>
                <a:latin typeface="+mn-ea"/>
              </a:rPr>
              <a:t>图</a:t>
            </a:r>
            <a:r>
              <a:rPr lang="en-US" altLang="zh-CN" sz="1800" b="1" dirty="0">
                <a:solidFill>
                  <a:schemeClr val="tx1"/>
                </a:solidFill>
                <a:latin typeface="+mn-ea"/>
              </a:rPr>
              <a:t>1</a:t>
            </a:r>
            <a:r>
              <a:rPr lang="zh-CN" altLang="en-US" sz="1800" b="1" dirty="0">
                <a:solidFill>
                  <a:schemeClr val="tx1"/>
                </a:solidFill>
                <a:latin typeface="+mn-ea"/>
              </a:rPr>
              <a:t>、</a:t>
            </a:r>
            <a:r>
              <a:rPr lang="en-US" altLang="zh-CN" sz="1800" b="1" dirty="0">
                <a:solidFill>
                  <a:schemeClr val="tx1"/>
                </a:solidFill>
                <a:latin typeface="+mn-ea"/>
              </a:rPr>
              <a:t>2</a:t>
            </a:r>
            <a:r>
              <a:rPr lang="zh-CN" altLang="en-US" sz="1800" b="1" dirty="0">
                <a:solidFill>
                  <a:schemeClr val="tx1"/>
                </a:solidFill>
                <a:latin typeface="+mn-ea"/>
              </a:rPr>
              <a:t>、</a:t>
            </a:r>
            <a:r>
              <a:rPr lang="en-US" altLang="zh-CN" sz="1800" b="1" dirty="0">
                <a:solidFill>
                  <a:schemeClr val="tx1"/>
                </a:solidFill>
                <a:latin typeface="+mn-ea"/>
              </a:rPr>
              <a:t>3</a:t>
            </a:r>
            <a:r>
              <a:rPr lang="zh-CN" altLang="en-US" sz="1800" b="1" dirty="0">
                <a:solidFill>
                  <a:schemeClr val="tx1"/>
                </a:solidFill>
                <a:latin typeface="+mn-ea"/>
              </a:rPr>
              <a:t>、</a:t>
            </a:r>
            <a:r>
              <a:rPr lang="en-US" altLang="zh-CN" sz="1800" b="1" dirty="0">
                <a:solidFill>
                  <a:schemeClr val="tx1"/>
                </a:solidFill>
                <a:latin typeface="+mn-ea"/>
              </a:rPr>
              <a:t>4……)</a:t>
            </a:r>
            <a:r>
              <a:rPr lang="zh-CN" altLang="en-US" sz="1800" b="1" dirty="0">
                <a:solidFill>
                  <a:schemeClr val="tx1"/>
                </a:solidFill>
                <a:latin typeface="+mn-ea"/>
              </a:rPr>
              <a:t>连续编序。</a:t>
            </a:r>
            <a:endParaRPr lang="zh-CN" altLang="en-US" sz="1800" b="1" dirty="0">
              <a:solidFill>
                <a:schemeClr val="tx1"/>
              </a:solidFill>
              <a:latin typeface="+mn-ea"/>
            </a:endParaRPr>
          </a:p>
        </p:txBody>
      </p:sp>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30568" y="2557357"/>
            <a:ext cx="9530862" cy="3984735"/>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CFDC8977-FA9D-455C-A140-FFECB9992D3F}" type="slidenum">
              <a:rPr lang="zh-CN" altLang="en-US" smtClean="0"/>
            </a:fld>
            <a:endParaRPr lang="en-US" altLang="zh-CN"/>
          </a:p>
        </p:txBody>
      </p:sp>
      <p:sp>
        <p:nvSpPr>
          <p:cNvPr id="8" name="Text Box 5"/>
          <p:cNvSpPr txBox="1">
            <a:spLocks noChangeArrowheads="1"/>
          </p:cNvSpPr>
          <p:nvPr/>
        </p:nvSpPr>
        <p:spPr bwMode="auto">
          <a:xfrm>
            <a:off x="426408" y="913842"/>
            <a:ext cx="11384592" cy="4613892"/>
          </a:xfrm>
          <a:prstGeom prst="rect">
            <a:avLst/>
          </a:prstGeom>
          <a:noFill/>
          <a:ln w="9525">
            <a:noFill/>
            <a:miter lim="800000"/>
          </a:ln>
        </p:spPr>
        <p:txBody>
          <a:bodyPr wrap="square">
            <a:spAutoFit/>
          </a:bodyPr>
          <a:lstStyle/>
          <a:p>
            <a:pPr>
              <a:lnSpc>
                <a:spcPct val="150000"/>
              </a:lnSpc>
            </a:pPr>
            <a:r>
              <a:rPr lang="zh-CN" altLang="en-US" b="1" dirty="0">
                <a:latin typeface="+mn-ea"/>
              </a:rPr>
              <a:t>① 努力学习、刻苦钻研、勤于实践、勇于创新，保质保量按时完成任务书规定的任务。</a:t>
            </a:r>
            <a:endParaRPr lang="zh-CN" altLang="en-US" b="1" dirty="0">
              <a:latin typeface="+mn-ea"/>
            </a:endParaRPr>
          </a:p>
          <a:p>
            <a:pPr>
              <a:lnSpc>
                <a:spcPct val="150000"/>
              </a:lnSpc>
            </a:pPr>
            <a:r>
              <a:rPr lang="zh-CN" altLang="en-US" b="1" dirty="0">
                <a:latin typeface="+mn-ea"/>
              </a:rPr>
              <a:t>② 尊敬师长、团结互助，虚心接受教师指导和检查，</a:t>
            </a:r>
            <a:r>
              <a:rPr lang="zh-CN" altLang="en-US" b="1" dirty="0">
                <a:solidFill>
                  <a:srgbClr val="C00000"/>
                </a:solidFill>
                <a:latin typeface="+mn-ea"/>
              </a:rPr>
              <a:t>定期汇报</a:t>
            </a:r>
            <a:r>
              <a:rPr lang="zh-CN" altLang="en-US" b="1" dirty="0">
                <a:latin typeface="+mn-ea"/>
              </a:rPr>
              <a:t>毕业设计（论文）工作进度、工作设想。</a:t>
            </a:r>
            <a:endParaRPr lang="zh-CN" altLang="en-US" b="1" dirty="0">
              <a:latin typeface="+mn-ea"/>
            </a:endParaRPr>
          </a:p>
          <a:p>
            <a:pPr>
              <a:lnSpc>
                <a:spcPct val="150000"/>
              </a:lnSpc>
            </a:pPr>
            <a:r>
              <a:rPr lang="zh-CN" altLang="en-US" b="1" dirty="0">
                <a:latin typeface="+mn-ea"/>
              </a:rPr>
              <a:t>③ </a:t>
            </a:r>
            <a:r>
              <a:rPr lang="zh-CN" altLang="en-US" b="1" dirty="0">
                <a:solidFill>
                  <a:srgbClr val="C00000"/>
                </a:solidFill>
                <a:latin typeface="+mn-ea"/>
              </a:rPr>
              <a:t>独立</a:t>
            </a:r>
            <a:r>
              <a:rPr lang="zh-CN" altLang="en-US" b="1" dirty="0">
                <a:latin typeface="+mn-ea"/>
              </a:rPr>
              <a:t>完成规定的工作任务，充分发挥学生的主动性和创造性，实事求是，不弄虚作假，不抄袭别人的成果，严厉杜绝毕业论文（设计）完成过程中抄袭、篡改已有科研成果及买卖、代写等学术不端现象的发生。</a:t>
            </a:r>
            <a:endParaRPr lang="en-US" altLang="zh-CN" b="1" dirty="0">
              <a:latin typeface="+mn-ea"/>
            </a:endParaRPr>
          </a:p>
          <a:p>
            <a:pPr>
              <a:lnSpc>
                <a:spcPct val="150000"/>
              </a:lnSpc>
            </a:pPr>
            <a:r>
              <a:rPr lang="zh-CN" altLang="en-US" b="1" dirty="0">
                <a:latin typeface="+mn-ea"/>
              </a:rPr>
              <a:t>④ </a:t>
            </a:r>
            <a:r>
              <a:rPr lang="zh-CN" altLang="en-US" b="1" dirty="0">
                <a:solidFill>
                  <a:srgbClr val="C00000"/>
                </a:solidFill>
                <a:latin typeface="+mn-ea"/>
              </a:rPr>
              <a:t>严格遵守纪律，在指定地点进行毕业设计（论文）。</a:t>
            </a:r>
            <a:r>
              <a:rPr lang="zh-CN" altLang="en-US" b="1" dirty="0">
                <a:latin typeface="+mn-ea"/>
              </a:rPr>
              <a:t>因事、因病离岗，应事先向指导教师请假，否则作为旷课处理。凡随机抽查三次无故不到者，评分降低一级。</a:t>
            </a:r>
            <a:r>
              <a:rPr lang="zh-CN" altLang="en-US" b="1" dirty="0">
                <a:solidFill>
                  <a:srgbClr val="C00000"/>
                </a:solidFill>
                <a:latin typeface="+mn-ea"/>
              </a:rPr>
              <a:t>累计旷课的时间达到或超过全过程</a:t>
            </a:r>
            <a:r>
              <a:rPr lang="en-US" altLang="zh-CN" b="1" dirty="0">
                <a:solidFill>
                  <a:srgbClr val="C00000"/>
                </a:solidFill>
                <a:latin typeface="+mn-ea"/>
              </a:rPr>
              <a:t>1/4</a:t>
            </a:r>
            <a:r>
              <a:rPr lang="zh-CN" altLang="en-US" b="1" dirty="0">
                <a:solidFill>
                  <a:srgbClr val="C00000"/>
                </a:solidFill>
                <a:latin typeface="+mn-ea"/>
              </a:rPr>
              <a:t>者、抄袭他人成果或请他人代做者、经大学生论文诚信检测系统检测文字重合率超过院系规定的最高比例者，取消答辩资格。</a:t>
            </a:r>
            <a:endParaRPr lang="en-US" altLang="zh-CN" b="1" dirty="0">
              <a:solidFill>
                <a:srgbClr val="C00000"/>
              </a:solidFill>
              <a:latin typeface="+mn-ea"/>
            </a:endParaRPr>
          </a:p>
          <a:p>
            <a:pPr>
              <a:lnSpc>
                <a:spcPct val="150000"/>
              </a:lnSpc>
            </a:pPr>
            <a:r>
              <a:rPr lang="zh-CN" altLang="en-US" b="1" dirty="0">
                <a:latin typeface="+mn-ea"/>
              </a:rPr>
              <a:t>⑤ 在实验室进行毕业设计的同学，严格遵守操作规程及实验室有关规章制度，确保安全。</a:t>
            </a:r>
            <a:endParaRPr lang="en-US" altLang="zh-CN" b="1" dirty="0">
              <a:latin typeface="+mn-ea"/>
            </a:endParaRPr>
          </a:p>
          <a:p>
            <a:pPr>
              <a:lnSpc>
                <a:spcPct val="150000"/>
              </a:lnSpc>
            </a:pPr>
            <a:r>
              <a:rPr lang="zh-CN" altLang="en-US" b="1" dirty="0">
                <a:latin typeface="+mn-ea"/>
              </a:rPr>
              <a:t>⑥</a:t>
            </a:r>
            <a:r>
              <a:rPr lang="zh-CN" altLang="en-US" b="1" dirty="0">
                <a:solidFill>
                  <a:srgbClr val="C00000"/>
                </a:solidFill>
                <a:latin typeface="+mn-ea"/>
              </a:rPr>
              <a:t>毕业设计报告（论文）须符合成果要求及撰写要求，</a:t>
            </a:r>
            <a:r>
              <a:rPr lang="zh-CN" altLang="en-US" b="1" dirty="0">
                <a:latin typeface="+mn-ea"/>
              </a:rPr>
              <a:t>否则不能取得答辩资格。</a:t>
            </a:r>
            <a:r>
              <a:rPr lang="zh-CN" altLang="en-US" b="1" dirty="0">
                <a:solidFill>
                  <a:srgbClr val="C00000"/>
                </a:solidFill>
                <a:latin typeface="+mn-ea"/>
              </a:rPr>
              <a:t>结束时应在教师指导下做好毕业设计（论文）成果、资料的归档工作，交给指导教师或相关部门存档。</a:t>
            </a:r>
            <a:r>
              <a:rPr lang="zh-CN" altLang="en-US" b="1" dirty="0">
                <a:latin typeface="+mn-ea"/>
              </a:rPr>
              <a:t>对毕业设计内容中涉及的有关技术资料应负有保密责任，未经许可不能擅自对外交流或转让，报告（论文）经指导教师同意可以对外发表。</a:t>
            </a:r>
            <a:endParaRPr lang="zh-CN" altLang="en-US" b="1" dirty="0">
              <a:latin typeface="+mn-ea"/>
            </a:endParaRPr>
          </a:p>
        </p:txBody>
      </p:sp>
      <p:sp>
        <p:nvSpPr>
          <p:cNvPr id="7" name="标题 1"/>
          <p:cNvSpPr>
            <a:spLocks noGrp="1"/>
          </p:cNvSpPr>
          <p:nvPr>
            <p:ph type="title"/>
          </p:nvPr>
        </p:nvSpPr>
        <p:spPr>
          <a:xfrm>
            <a:off x="0" y="1"/>
            <a:ext cx="12192000" cy="1052513"/>
          </a:xfrm>
        </p:spPr>
        <p:txBody>
          <a:bodyPr/>
          <a:lstStyle/>
          <a:p>
            <a:r>
              <a:rPr lang="zh-CN" altLang="en-US" sz="2800" dirty="0">
                <a:solidFill>
                  <a:schemeClr val="tx1"/>
                </a:solidFill>
                <a:latin typeface="+mn-ea"/>
                <a:ea typeface="+mn-ea"/>
              </a:rPr>
              <a:t>学生完成毕业设计（论文）的基本要求</a:t>
            </a:r>
            <a:endParaRPr lang="zh-CN" altLang="en-US" sz="2800" dirty="0">
              <a:solidFill>
                <a:schemeClr val="tx1"/>
              </a:solidFill>
              <a:latin typeface="+mn-ea"/>
              <a:ea typeface="+mn-ea"/>
            </a:endParaRPr>
          </a:p>
        </p:txBody>
      </p:sp>
      <p:sp>
        <p:nvSpPr>
          <p:cNvPr id="6" name="文本框 5"/>
          <p:cNvSpPr txBox="1"/>
          <p:nvPr/>
        </p:nvSpPr>
        <p:spPr>
          <a:xfrm>
            <a:off x="3061891" y="5527734"/>
            <a:ext cx="5239265" cy="961289"/>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b="1" dirty="0">
                <a:solidFill>
                  <a:srgbClr val="1F497D"/>
                </a:solidFill>
                <a:latin typeface="+mn-ea"/>
              </a:rPr>
              <a:t>严格遵守时间节点，定期向指导老师汇报</a:t>
            </a:r>
            <a:endParaRPr lang="en-US" altLang="zh-CN" sz="2000" b="1" dirty="0">
              <a:solidFill>
                <a:srgbClr val="1F497D"/>
              </a:solidFill>
              <a:latin typeface="+mn-ea"/>
            </a:endParaRPr>
          </a:p>
          <a:p>
            <a:pPr marL="342900" indent="-342900">
              <a:lnSpc>
                <a:spcPct val="150000"/>
              </a:lnSpc>
              <a:buFont typeface="Wingdings" panose="05000000000000000000" pitchFamily="2" charset="2"/>
              <a:buChar char="p"/>
            </a:pPr>
            <a:r>
              <a:rPr lang="zh-CN" altLang="en-US" sz="2000" b="1" dirty="0">
                <a:solidFill>
                  <a:srgbClr val="1F497D"/>
                </a:solidFill>
                <a:latin typeface="+mn-ea"/>
              </a:rPr>
              <a:t>教育部抽检</a:t>
            </a:r>
            <a:endParaRPr lang="zh-CN" altLang="en-US" sz="2000" b="1" dirty="0">
              <a:solidFill>
                <a:srgbClr val="1F497D"/>
              </a:solidFill>
              <a:latin typeface="+mn-ea"/>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6741" y="321393"/>
            <a:ext cx="1198880" cy="706755"/>
          </a:xfrm>
          <a:prstGeom prst="rect">
            <a:avLst/>
          </a:prstGeom>
        </p:spPr>
        <p:txBody>
          <a:bodyPr wrap="none">
            <a:spAutoFit/>
          </a:bodyPr>
          <a:lstStyle/>
          <a:p>
            <a:pPr eaLnBrk="0" hangingPunct="0">
              <a:buClr>
                <a:schemeClr val="accent2"/>
              </a:buClr>
              <a:buSzPct val="110000"/>
            </a:pPr>
            <a:r>
              <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说明</a:t>
            </a:r>
            <a:endParaRPr lang="zh-CN" altLang="en-US" sz="40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a:xfrm>
            <a:off x="207304" y="917858"/>
            <a:ext cx="11927176" cy="5785485"/>
          </a:xfrm>
          <a:prstGeom prst="rect">
            <a:avLst/>
          </a:prstGeom>
        </p:spPr>
        <p:txBody>
          <a:bodyPr wrap="square">
            <a:spAutoFit/>
          </a:bodyPr>
          <a:lstStyle/>
          <a:p>
            <a:pPr marL="457200" lvl="2" indent="-457200">
              <a:lnSpc>
                <a:spcPts val="4000"/>
              </a:lnSpc>
              <a:spcBef>
                <a:spcPts val="1200"/>
              </a:spcBef>
              <a:buClr>
                <a:srgbClr val="ED7D31"/>
              </a:buClr>
              <a:buFont typeface="Wingdings" panose="05000000000000000000" pitchFamily="2" charset="2"/>
              <a:buChar char="u"/>
            </a:pPr>
            <a:r>
              <a:rPr lang="zh-CN" altLang="en-US" sz="24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每个阶段具体截止时间及要求以到时候通知的为准，请关注各阶段时间结点：</a:t>
            </a:r>
            <a:endParaRPr lang="en-US" altLang="zh-CN" sz="2400"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2" indent="-457200">
              <a:lnSpc>
                <a:spcPts val="4000"/>
              </a:lnSpc>
              <a:spcBef>
                <a:spcPts val="1200"/>
              </a:spcBef>
              <a:buClr>
                <a:srgbClr val="ED7D31"/>
              </a:buClr>
              <a:buFont typeface="Wingdings" panose="05000000000000000000" pitchFamily="2" charset="2"/>
              <a:buChar char="u"/>
            </a:pPr>
            <a:r>
              <a:rPr lang="zh-CN" altLang="en-US" sz="2400" b="1" i="1" dirty="0">
                <a:solidFill>
                  <a:schemeClr val="tx2"/>
                </a:solidFill>
              </a:rPr>
              <a:t>关注</a:t>
            </a:r>
            <a:r>
              <a:rPr lang="en-US" altLang="zh-CN" sz="2400" b="1" i="1" dirty="0">
                <a:solidFill>
                  <a:schemeClr val="tx2"/>
                </a:solidFill>
              </a:rPr>
              <a:t>《</a:t>
            </a:r>
            <a:r>
              <a:rPr lang="zh-CN" altLang="en-US" sz="2400" b="1" i="1" dirty="0">
                <a:solidFill>
                  <a:schemeClr val="tx2"/>
                </a:solidFill>
              </a:rPr>
              <a:t>东南大学本科论文撰写</a:t>
            </a:r>
            <a:r>
              <a:rPr lang="en-US" altLang="zh-CN" sz="2400" b="1" i="1" dirty="0">
                <a:solidFill>
                  <a:schemeClr val="tx2"/>
                </a:solidFill>
              </a:rPr>
              <a:t>》</a:t>
            </a:r>
            <a:r>
              <a:rPr lang="zh-CN" altLang="en-US" sz="2400" b="1" i="1" dirty="0">
                <a:solidFill>
                  <a:schemeClr val="tx2"/>
                </a:solidFill>
              </a:rPr>
              <a:t>、</a:t>
            </a:r>
            <a:r>
              <a:rPr lang="en-US" altLang="zh-CN" sz="2400" b="1" i="1" dirty="0">
                <a:solidFill>
                  <a:schemeClr val="tx2"/>
                </a:solidFill>
              </a:rPr>
              <a:t> 《</a:t>
            </a:r>
            <a:r>
              <a:rPr lang="zh-CN" altLang="en-US" sz="2400" b="1" i="1" dirty="0">
                <a:solidFill>
                  <a:schemeClr val="tx2"/>
                </a:solidFill>
              </a:rPr>
              <a:t>毕业设计规范性检查表</a:t>
            </a:r>
            <a:r>
              <a:rPr lang="en-US" altLang="zh-CN" sz="2400" b="1" i="1" dirty="0">
                <a:solidFill>
                  <a:schemeClr val="tx2"/>
                </a:solidFill>
              </a:rPr>
              <a:t>》</a:t>
            </a:r>
            <a:r>
              <a:rPr lang="zh-CN" altLang="en-US" sz="2400" b="1" i="1" dirty="0">
                <a:solidFill>
                  <a:schemeClr val="tx2"/>
                </a:solidFill>
              </a:rPr>
              <a:t>、</a:t>
            </a:r>
            <a:r>
              <a:rPr lang="en-US" altLang="zh-CN" sz="2400" b="1" i="1" dirty="0">
                <a:solidFill>
                  <a:schemeClr val="tx2"/>
                </a:solidFill>
              </a:rPr>
              <a:t>《</a:t>
            </a:r>
            <a:r>
              <a:rPr lang="zh-CN" altLang="en-US" sz="2400" b="1" i="1" dirty="0">
                <a:solidFill>
                  <a:schemeClr val="tx2"/>
                </a:solidFill>
              </a:rPr>
              <a:t>江苏省本科毕业论文（设计）抽检评议要素及评价细则</a:t>
            </a:r>
            <a:r>
              <a:rPr lang="en-US" altLang="zh-CN" sz="2400" b="1" i="1" dirty="0">
                <a:solidFill>
                  <a:schemeClr val="tx2"/>
                </a:solidFill>
              </a:rPr>
              <a:t>》</a:t>
            </a:r>
            <a:endParaRPr lang="en-US" altLang="zh-CN" sz="2400" b="1" i="1" dirty="0">
              <a:solidFill>
                <a:schemeClr val="tx2"/>
              </a:solidFill>
            </a:endParaRPr>
          </a:p>
          <a:p>
            <a:pPr marL="457200" lvl="2" indent="-457200">
              <a:lnSpc>
                <a:spcPts val="4000"/>
              </a:lnSpc>
              <a:spcBef>
                <a:spcPts val="1200"/>
              </a:spcBef>
              <a:buClr>
                <a:srgbClr val="ED7D31"/>
              </a:buClr>
              <a:buFont typeface="Wingdings" panose="05000000000000000000" pitchFamily="2" charset="2"/>
              <a:buChar char="u"/>
            </a:pPr>
            <a:r>
              <a:rPr lang="zh-CN" altLang="en-US" sz="2400" b="1" i="1" dirty="0">
                <a:solidFill>
                  <a:schemeClr val="tx2"/>
                </a:solidFill>
              </a:rPr>
              <a:t>信息学院教师联系方式：https://radio.seu.edu.cn/19256/list.htm</a:t>
            </a:r>
            <a:endParaRPr lang="zh-CN" altLang="en-US" sz="2400" b="1" i="1" dirty="0">
              <a:solidFill>
                <a:schemeClr val="tx2"/>
              </a:solidFill>
            </a:endParaRPr>
          </a:p>
          <a:p>
            <a:pPr marL="457200" lvl="2" indent="-457200">
              <a:lnSpc>
                <a:spcPts val="4000"/>
              </a:lnSpc>
              <a:spcBef>
                <a:spcPts val="1200"/>
              </a:spcBef>
              <a:buClr>
                <a:srgbClr val="ED7D31"/>
              </a:buClr>
              <a:buFont typeface="Wingdings" panose="05000000000000000000" pitchFamily="2" charset="2"/>
              <a:buChar char="u"/>
            </a:pPr>
            <a:r>
              <a:rPr lang="zh-CN" altLang="en-US" sz="2000" b="1" kern="0" dirty="0">
                <a:solidFill>
                  <a:schemeClr val="tx2">
                    <a:lumMod val="75000"/>
                  </a:schemeClr>
                </a:solidFill>
                <a:latin typeface="+mn-ea"/>
              </a:rPr>
              <a:t>咨询流程：有问题先跟指导老师联系---再联系学科负责毕设老师---学院傅老师</a:t>
            </a:r>
            <a:endParaRPr lang="zh-CN" altLang="en-US" sz="2000" b="1" kern="0" dirty="0">
              <a:solidFill>
                <a:schemeClr val="tx2">
                  <a:lumMod val="75000"/>
                </a:schemeClr>
              </a:solidFill>
              <a:latin typeface="+mn-ea"/>
            </a:endParaRPr>
          </a:p>
          <a:p>
            <a:pPr marL="457200" lvl="2" indent="-457200">
              <a:lnSpc>
                <a:spcPts val="4000"/>
              </a:lnSpc>
              <a:spcBef>
                <a:spcPts val="1200"/>
              </a:spcBef>
              <a:buClr>
                <a:srgbClr val="ED7D31"/>
              </a:buClr>
              <a:buFont typeface="Wingdings" panose="05000000000000000000" pitchFamily="2" charset="2"/>
              <a:buChar char="u"/>
            </a:pPr>
            <a:r>
              <a:rPr lang="zh-CN" altLang="en-US" sz="2000" b="1" kern="0" dirty="0">
                <a:solidFill>
                  <a:schemeClr val="tx2">
                    <a:lumMod val="75000"/>
                  </a:schemeClr>
                </a:solidFill>
                <a:latin typeface="+mn-ea"/>
              </a:rPr>
              <a:t>各学科毕业设计负责老师</a:t>
            </a:r>
            <a:endParaRPr lang="zh-CN" altLang="en-US" sz="2400" b="1" kern="0" dirty="0">
              <a:solidFill>
                <a:schemeClr val="tx2">
                  <a:lumMod val="75000"/>
                </a:schemeClr>
              </a:solidFill>
              <a:latin typeface="+mn-ea"/>
            </a:endParaRPr>
          </a:p>
          <a:p>
            <a:pPr marL="457200" lvl="2" indent="-457200">
              <a:lnSpc>
                <a:spcPts val="4000"/>
              </a:lnSpc>
              <a:spcBef>
                <a:spcPts val="1200"/>
              </a:spcBef>
              <a:buClr>
                <a:srgbClr val="ED7D31"/>
              </a:buClr>
              <a:buFont typeface="Wingdings" panose="05000000000000000000" pitchFamily="2" charset="2"/>
              <a:buChar char="u"/>
            </a:pPr>
            <a:endParaRPr lang="zh-CN" altLang="en-US" sz="2800" b="1" kern="0" dirty="0">
              <a:solidFill>
                <a:schemeClr val="tx2">
                  <a:lumMod val="75000"/>
                </a:schemeClr>
              </a:solidFill>
              <a:latin typeface="+mn-ea"/>
              <a:sym typeface="+mn-ea"/>
            </a:endParaRPr>
          </a:p>
          <a:p>
            <a:pPr marL="457200" lvl="2" indent="-457200">
              <a:lnSpc>
                <a:spcPts val="4000"/>
              </a:lnSpc>
              <a:spcBef>
                <a:spcPts val="1200"/>
              </a:spcBef>
              <a:buClr>
                <a:srgbClr val="ED7D31"/>
              </a:buClr>
              <a:buFont typeface="Wingdings" panose="05000000000000000000" pitchFamily="2" charset="2"/>
              <a:buChar char="u"/>
            </a:pPr>
            <a:endParaRPr lang="zh-CN" altLang="en-US" sz="2800" b="1" kern="0" dirty="0">
              <a:solidFill>
                <a:schemeClr val="tx2">
                  <a:lumMod val="75000"/>
                </a:schemeClr>
              </a:solidFill>
              <a:latin typeface="+mn-ea"/>
              <a:sym typeface="+mn-ea"/>
            </a:endParaRPr>
          </a:p>
          <a:p>
            <a:pPr marL="457200" lvl="2" indent="-457200">
              <a:lnSpc>
                <a:spcPts val="4000"/>
              </a:lnSpc>
              <a:spcBef>
                <a:spcPts val="1200"/>
              </a:spcBef>
              <a:buClr>
                <a:srgbClr val="ED7D31"/>
              </a:buClr>
              <a:buFont typeface="Wingdings" panose="05000000000000000000" pitchFamily="2" charset="2"/>
              <a:buChar char="u"/>
            </a:pPr>
            <a:r>
              <a:rPr lang="zh-CN" altLang="en-US" sz="2000" b="1" kern="0" dirty="0">
                <a:solidFill>
                  <a:schemeClr val="tx2">
                    <a:lumMod val="75000"/>
                  </a:schemeClr>
                </a:solidFill>
                <a:latin typeface="+mn-ea"/>
                <a:sym typeface="+mn-ea"/>
              </a:rPr>
              <a:t>傅老师：九龙湖信息大楼</a:t>
            </a:r>
            <a:r>
              <a:rPr lang="en-US" altLang="zh-CN" sz="2000" b="1" kern="0" dirty="0">
                <a:solidFill>
                  <a:schemeClr val="tx2">
                    <a:lumMod val="75000"/>
                  </a:schemeClr>
                </a:solidFill>
                <a:latin typeface="+mn-ea"/>
                <a:sym typeface="+mn-ea"/>
              </a:rPr>
              <a:t>304</a:t>
            </a:r>
            <a:r>
              <a:rPr lang="zh-CN" altLang="en-US" sz="2000" b="1" kern="0" dirty="0">
                <a:solidFill>
                  <a:schemeClr val="tx2">
                    <a:lumMod val="75000"/>
                  </a:schemeClr>
                </a:solidFill>
                <a:latin typeface="+mn-ea"/>
                <a:sym typeface="+mn-ea"/>
              </a:rPr>
              <a:t>、</a:t>
            </a:r>
            <a:r>
              <a:rPr lang="zh-CN" altLang="en-US" sz="2000" b="1" kern="0" dirty="0">
                <a:solidFill>
                  <a:schemeClr val="tx2">
                    <a:lumMod val="75000"/>
                  </a:schemeClr>
                </a:solidFill>
                <a:latin typeface="+mn-ea"/>
                <a:sym typeface="+mn-ea"/>
              </a:rPr>
              <a:t>电话：025-52091071</a:t>
            </a:r>
            <a:r>
              <a:rPr lang="zh-CN" altLang="en-US" sz="2000" b="1" kern="0" dirty="0">
                <a:solidFill>
                  <a:schemeClr val="tx2">
                    <a:lumMod val="75000"/>
                  </a:schemeClr>
                </a:solidFill>
                <a:latin typeface="+mn-ea"/>
              </a:rPr>
              <a:t>  </a:t>
            </a:r>
            <a:r>
              <a:rPr lang="en-US" altLang="zh-CN"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733425" y="4610735"/>
            <a:ext cx="7666355" cy="1435100"/>
          </a:xfrm>
          <a:prstGeom prst="rect">
            <a:avLst/>
          </a:prstGeom>
        </p:spPr>
        <p:txBody>
          <a:bodyPr wrap="square">
            <a:noAutofit/>
          </a:bodyPr>
          <a:lstStyle/>
          <a:p>
            <a:pPr>
              <a:defRPr/>
            </a:pPr>
            <a:r>
              <a:rPr lang="zh-CN" altLang="en-US" sz="1400" b="1" dirty="0"/>
              <a:t>通信：信息大楼  曹秀英 101000725@seu.edu.cn </a:t>
            </a:r>
            <a:r>
              <a:rPr lang="en-US" altLang="zh-CN" sz="1400" b="1" dirty="0"/>
              <a:t> </a:t>
            </a:r>
            <a:r>
              <a:rPr lang="zh-CN" altLang="en-US" sz="1400" b="1" dirty="0"/>
              <a:t>，无线谷：李佳珉 </a:t>
            </a:r>
            <a:r>
              <a:rPr lang="en-US" altLang="zh-CN" sz="1400" b="1" dirty="0"/>
              <a:t>jiaminli@seu.edu.cn    </a:t>
            </a:r>
            <a:endParaRPr lang="en-US" altLang="zh-CN" sz="1400" b="1" dirty="0"/>
          </a:p>
          <a:p>
            <a:pPr>
              <a:defRPr/>
            </a:pPr>
            <a:r>
              <a:rPr lang="zh-CN" altLang="en-US" sz="1400" b="1" dirty="0"/>
              <a:t>微波： 无线谷    </a:t>
            </a:r>
            <a:r>
              <a:rPr lang="en-US" altLang="zh-CN" sz="1400" b="1" dirty="0"/>
              <a:t> </a:t>
            </a:r>
            <a:r>
              <a:rPr lang="zh-CN" altLang="en-US" sz="1400" b="1" dirty="0"/>
              <a:t>李萌彦</a:t>
            </a:r>
            <a:r>
              <a:rPr lang="en-US" altLang="zh-CN" sz="1400" b="1" dirty="0"/>
              <a:t> lmy@seu.edu.cn</a:t>
            </a:r>
            <a:endParaRPr lang="en-US" altLang="zh-CN" sz="1400" b="1" dirty="0"/>
          </a:p>
          <a:p>
            <a:pPr>
              <a:defRPr/>
            </a:pPr>
            <a:r>
              <a:rPr lang="zh-CN" altLang="en-US" sz="1400" b="1" dirty="0"/>
              <a:t>电路：无线谷       唐路</a:t>
            </a:r>
            <a:r>
              <a:rPr lang="en-US" altLang="zh-CN" sz="1400" b="1" dirty="0"/>
              <a:t> 	</a:t>
            </a:r>
            <a:r>
              <a:rPr lang="zh-CN" altLang="en-US" sz="1400" b="1" dirty="0"/>
              <a:t>lutang2k@seu.edu.cn</a:t>
            </a:r>
            <a:endParaRPr lang="zh-CN" altLang="en-US" sz="1400" b="1" dirty="0"/>
          </a:p>
          <a:p>
            <a:pPr>
              <a:defRPr/>
            </a:pPr>
            <a:r>
              <a:rPr lang="zh-CN" altLang="en-US" sz="1400" b="1" dirty="0"/>
              <a:t>信号：</a:t>
            </a:r>
            <a:endParaRPr lang="en-US" altLang="zh-CN" sz="1400" b="1" dirty="0"/>
          </a:p>
          <a:p>
            <a:pPr>
              <a:defRPr/>
            </a:pPr>
            <a:r>
              <a:rPr lang="en-US" altLang="zh-CN" sz="1400" b="1" dirty="0"/>
              <a:t>1</a:t>
            </a:r>
            <a:r>
              <a:rPr lang="zh-CN" altLang="en-US" sz="1400" b="1" dirty="0"/>
              <a:t>、信息大楼  戚晨皓</a:t>
            </a:r>
            <a:r>
              <a:rPr lang="en-US" altLang="zh-CN" sz="1400" b="1" dirty="0"/>
              <a:t> qch@seu.edu.cn</a:t>
            </a:r>
            <a:endParaRPr lang="en-US" altLang="zh-CN" sz="1400" b="1" dirty="0"/>
          </a:p>
          <a:p>
            <a:pPr>
              <a:defRPr/>
            </a:pPr>
            <a:r>
              <a:rPr lang="en-US" altLang="zh-CN" sz="1400" b="1" dirty="0"/>
              <a:t>2</a:t>
            </a:r>
            <a:r>
              <a:rPr lang="zh-CN" altLang="en-US" sz="1400" b="1" dirty="0"/>
              <a:t>、水声：信息大楼  曹红丽</a:t>
            </a:r>
            <a:r>
              <a:rPr lang="en-US" altLang="zh-CN" sz="1400" b="1" dirty="0"/>
              <a:t>103200023@seu.edu.cn</a:t>
            </a:r>
            <a:endParaRPr lang="en-US" altLang="zh-CN" sz="1400" b="1" dirty="0"/>
          </a:p>
        </p:txBody>
      </p:sp>
    </p:spTree>
  </p:cSld>
  <p:clrMapOvr>
    <a:masterClrMapping/>
  </p:clrMapOvr>
  <p:transition>
    <p:fade/>
  </p:transition>
</p:sld>
</file>

<file path=ppt/tags/tag1.xml><?xml version="1.0" encoding="utf-8"?>
<p:tagLst xmlns:p="http://schemas.openxmlformats.org/presentationml/2006/main">
  <p:tag name="commondata" val="eyJoZGlkIjoiMmRjYmNlZmJhNDg2NDI0NjI3ZGY1MDkxNWI4ZTRiNDEifQ=="/>
</p:tagLst>
</file>

<file path=ppt/theme/theme1.xml><?xml version="1.0" encoding="utf-8"?>
<a:theme xmlns:a="http://schemas.openxmlformats.org/drawingml/2006/main" name="websy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_websys_2">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websys_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4_websys_2 2">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CC6600"/>
        </a:hlink>
        <a:folHlink>
          <a:srgbClr val="990000"/>
        </a:folHlink>
      </a:clrScheme>
      <a:clrMap bg1="lt1" tx1="dk1" bg2="lt2" tx2="dk2" accent1="accent1" accent2="accent2" accent3="accent3" accent4="accent4" accent5="accent5" accent6="accent6" hlink="hlink" folHlink="folHlink"/>
    </a:extraClrScheme>
    <a:extraClrScheme>
      <a:clrScheme name="4_websys_2 3">
        <a:dk1>
          <a:srgbClr val="003300"/>
        </a:dk1>
        <a:lt1>
          <a:srgbClr val="FFFFFF"/>
        </a:lt1>
        <a:dk2>
          <a:srgbClr val="1F497D"/>
        </a:dk2>
        <a:lt2>
          <a:srgbClr val="EEECE1"/>
        </a:lt2>
        <a:accent1>
          <a:srgbClr val="4F81BD"/>
        </a:accent1>
        <a:accent2>
          <a:srgbClr val="FF9900"/>
        </a:accent2>
        <a:accent3>
          <a:srgbClr val="FFFFFF"/>
        </a:accent3>
        <a:accent4>
          <a:srgbClr val="002A00"/>
        </a:accent4>
        <a:accent5>
          <a:srgbClr val="B2C1DB"/>
        </a:accent5>
        <a:accent6>
          <a:srgbClr val="E78A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4_websys_2 4">
        <a:dk1>
          <a:srgbClr val="003300"/>
        </a:dk1>
        <a:lt1>
          <a:srgbClr val="FFFFFF"/>
        </a:lt1>
        <a:dk2>
          <a:srgbClr val="003300"/>
        </a:dk2>
        <a:lt2>
          <a:srgbClr val="EEECE1"/>
        </a:lt2>
        <a:accent1>
          <a:srgbClr val="697535"/>
        </a:accent1>
        <a:accent2>
          <a:srgbClr val="FF9900"/>
        </a:accent2>
        <a:accent3>
          <a:srgbClr val="FFFFFF"/>
        </a:accent3>
        <a:accent4>
          <a:srgbClr val="002A00"/>
        </a:accent4>
        <a:accent5>
          <a:srgbClr val="B9BDAE"/>
        </a:accent5>
        <a:accent6>
          <a:srgbClr val="E78A00"/>
        </a:accent6>
        <a:hlink>
          <a:srgbClr val="CCCC00"/>
        </a:hlink>
        <a:folHlink>
          <a:srgbClr val="99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bsys_Alex">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6_websys_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websys_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2_websys_2 2">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CC6600"/>
        </a:hlink>
        <a:folHlink>
          <a:srgbClr val="990000"/>
        </a:folHlink>
      </a:clrScheme>
      <a:clrMap bg1="lt1" tx1="dk1" bg2="lt2" tx2="dk2" accent1="accent1" accent2="accent2" accent3="accent3" accent4="accent4" accent5="accent5" accent6="accent6" hlink="hlink" folHlink="folHlink"/>
    </a:extraClrScheme>
    <a:extraClrScheme>
      <a:clrScheme name="5_websys_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5_websys_2 2">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CC6600"/>
        </a:hlink>
        <a:folHlink>
          <a:srgbClr val="990000"/>
        </a:folHlink>
      </a:clrScheme>
      <a:clrMap bg1="lt1" tx1="dk1" bg2="lt2" tx2="dk2" accent1="accent1" accent2="accent2" accent3="accent3" accent4="accent4" accent5="accent5" accent6="accent6" hlink="hlink" folHlink="folHlink"/>
    </a:extraClrScheme>
    <a:extraClrScheme>
      <a:clrScheme name="5_websys_2 3">
        <a:dk1>
          <a:srgbClr val="003300"/>
        </a:dk1>
        <a:lt1>
          <a:srgbClr val="FFFFFF"/>
        </a:lt1>
        <a:dk2>
          <a:srgbClr val="1F497D"/>
        </a:dk2>
        <a:lt2>
          <a:srgbClr val="EEECE1"/>
        </a:lt2>
        <a:accent1>
          <a:srgbClr val="4F81BD"/>
        </a:accent1>
        <a:accent2>
          <a:srgbClr val="FF9900"/>
        </a:accent2>
        <a:accent3>
          <a:srgbClr val="FFFFFF"/>
        </a:accent3>
        <a:accent4>
          <a:srgbClr val="002A00"/>
        </a:accent4>
        <a:accent5>
          <a:srgbClr val="B2C1DB"/>
        </a:accent5>
        <a:accent6>
          <a:srgbClr val="E78A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5_websys_2 4">
        <a:dk1>
          <a:srgbClr val="003300"/>
        </a:dk1>
        <a:lt1>
          <a:srgbClr val="FFFFFF"/>
        </a:lt1>
        <a:dk2>
          <a:srgbClr val="003300"/>
        </a:dk2>
        <a:lt2>
          <a:srgbClr val="EEECE1"/>
        </a:lt2>
        <a:accent1>
          <a:srgbClr val="697535"/>
        </a:accent1>
        <a:accent2>
          <a:srgbClr val="FF9900"/>
        </a:accent2>
        <a:accent3>
          <a:srgbClr val="FFFFFF"/>
        </a:accent3>
        <a:accent4>
          <a:srgbClr val="002A00"/>
        </a:accent4>
        <a:accent5>
          <a:srgbClr val="B9BDAE"/>
        </a:accent5>
        <a:accent6>
          <a:srgbClr val="E78A00"/>
        </a:accent6>
        <a:hlink>
          <a:srgbClr val="CCCC00"/>
        </a:hlink>
        <a:folHlink>
          <a:srgbClr val="99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ebsy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_websys_2">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websys_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4_websys_2 2">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CC6600"/>
        </a:hlink>
        <a:folHlink>
          <a:srgbClr val="990000"/>
        </a:folHlink>
      </a:clrScheme>
      <a:clrMap bg1="lt1" tx1="dk1" bg2="lt2" tx2="dk2" accent1="accent1" accent2="accent2" accent3="accent3" accent4="accent4" accent5="accent5" accent6="accent6" hlink="hlink" folHlink="folHlink"/>
    </a:extraClrScheme>
    <a:extraClrScheme>
      <a:clrScheme name="4_websys_2 3">
        <a:dk1>
          <a:srgbClr val="003300"/>
        </a:dk1>
        <a:lt1>
          <a:srgbClr val="FFFFFF"/>
        </a:lt1>
        <a:dk2>
          <a:srgbClr val="1F497D"/>
        </a:dk2>
        <a:lt2>
          <a:srgbClr val="EEECE1"/>
        </a:lt2>
        <a:accent1>
          <a:srgbClr val="4F81BD"/>
        </a:accent1>
        <a:accent2>
          <a:srgbClr val="FF9900"/>
        </a:accent2>
        <a:accent3>
          <a:srgbClr val="FFFFFF"/>
        </a:accent3>
        <a:accent4>
          <a:srgbClr val="002A00"/>
        </a:accent4>
        <a:accent5>
          <a:srgbClr val="B2C1DB"/>
        </a:accent5>
        <a:accent6>
          <a:srgbClr val="E78A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4_websys_2 4">
        <a:dk1>
          <a:srgbClr val="003300"/>
        </a:dk1>
        <a:lt1>
          <a:srgbClr val="FFFFFF"/>
        </a:lt1>
        <a:dk2>
          <a:srgbClr val="003300"/>
        </a:dk2>
        <a:lt2>
          <a:srgbClr val="EEECE1"/>
        </a:lt2>
        <a:accent1>
          <a:srgbClr val="697535"/>
        </a:accent1>
        <a:accent2>
          <a:srgbClr val="FF9900"/>
        </a:accent2>
        <a:accent3>
          <a:srgbClr val="FFFFFF"/>
        </a:accent3>
        <a:accent4>
          <a:srgbClr val="002A00"/>
        </a:accent4>
        <a:accent5>
          <a:srgbClr val="B9BDAE"/>
        </a:accent5>
        <a:accent6>
          <a:srgbClr val="E78A00"/>
        </a:accent6>
        <a:hlink>
          <a:srgbClr val="CCCC00"/>
        </a:hlink>
        <a:folHlink>
          <a:srgbClr val="99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4893</Words>
  <Application>WPS 演示</Application>
  <PresentationFormat>宽屏</PresentationFormat>
  <Paragraphs>270</Paragraphs>
  <Slides>20</Slides>
  <Notes>1</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20</vt:i4>
      </vt:variant>
    </vt:vector>
  </HeadingPairs>
  <TitlesOfParts>
    <vt:vector size="34" baseType="lpstr">
      <vt:lpstr>Arial</vt:lpstr>
      <vt:lpstr>宋体</vt:lpstr>
      <vt:lpstr>Wingdings</vt:lpstr>
      <vt:lpstr>Times New Roman</vt:lpstr>
      <vt:lpstr>微软雅黑</vt:lpstr>
      <vt:lpstr>华文楷体</vt:lpstr>
      <vt:lpstr>Calibri</vt:lpstr>
      <vt:lpstr>等线</vt:lpstr>
      <vt:lpstr>华文中宋</vt:lpstr>
      <vt:lpstr>Microsoft YaHei UI</vt:lpstr>
      <vt:lpstr>Arial Unicode MS</vt:lpstr>
      <vt:lpstr>websys</vt:lpstr>
      <vt:lpstr>websys_Alex</vt:lpstr>
      <vt:lpstr>1_websys</vt:lpstr>
      <vt:lpstr>PowerPoint 演示文稿</vt:lpstr>
      <vt:lpstr>PowerPoint 演示文稿</vt:lpstr>
      <vt:lpstr>毕业设计流程说明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论文查重及提交</vt:lpstr>
      <vt:lpstr>论文查重及提交</vt:lpstr>
      <vt:lpstr>PowerPoint 演示文稿</vt:lpstr>
      <vt:lpstr>论文归档及上报</vt:lpstr>
      <vt:lpstr>论文模板</vt:lpstr>
      <vt:lpstr>学生完成毕业设计（论文）的基本要求</vt:lpstr>
      <vt:lpstr>PowerPoint 演示文稿</vt:lpstr>
    </vt:vector>
  </TitlesOfParts>
  <Company>PIC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xus</dc:creator>
  <cp:lastModifiedBy>傅文琦</cp:lastModifiedBy>
  <cp:revision>360</cp:revision>
  <dcterms:created xsi:type="dcterms:W3CDTF">2018-12-31T08:41:00Z</dcterms:created>
  <dcterms:modified xsi:type="dcterms:W3CDTF">2025-11-26T05:37:30Z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DB4C89C8CC9E4F6A968DD7F53ECB2040_13</vt:lpwstr>
  </property>
</Properties>
</file>